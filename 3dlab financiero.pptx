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81" r:id="rId2"/>
    <p:sldId id="284" r:id="rId3"/>
    <p:sldId id="285" r:id="rId4"/>
    <p:sldId id="275" r:id="rId5"/>
    <p:sldId id="272" r:id="rId6"/>
    <p:sldId id="274" r:id="rId7"/>
    <p:sldId id="273" r:id="rId8"/>
    <p:sldId id="267" r:id="rId9"/>
    <p:sldId id="262" r:id="rId10"/>
    <p:sldId id="263" r:id="rId11"/>
    <p:sldId id="265" r:id="rId12"/>
    <p:sldId id="260" r:id="rId13"/>
    <p:sldId id="261" r:id="rId14"/>
    <p:sldId id="269" r:id="rId15"/>
    <p:sldId id="276" r:id="rId16"/>
    <p:sldId id="287" r:id="rId17"/>
    <p:sldId id="288" r:id="rId18"/>
    <p:sldId id="277" r:id="rId19"/>
    <p:sldId id="271" r:id="rId20"/>
    <p:sldId id="256" r:id="rId21"/>
    <p:sldId id="257" r:id="rId22"/>
    <p:sldId id="268" r:id="rId23"/>
    <p:sldId id="258" r:id="rId24"/>
    <p:sldId id="259" r:id="rId25"/>
    <p:sldId id="280" r:id="rId26"/>
    <p:sldId id="278" r:id="rId27"/>
    <p:sldId id="279" r:id="rId28"/>
    <p:sldId id="286" r:id="rId29"/>
  </p:sldIdLst>
  <p:sldSz cx="12192000" cy="6858000"/>
  <p:notesSz cx="6858000" cy="9144000"/>
  <p:embeddedFontLst>
    <p:embeddedFont>
      <p:font typeface="Book Antiqua" panose="02040602050305030304" pitchFamily="18" charset="0"/>
      <p:regular r:id="rId31"/>
      <p:bold r:id="rId32"/>
      <p:italic r:id="rId33"/>
      <p:boldItalic r:id="rId34"/>
    </p:embeddedFont>
    <p:embeddedFont>
      <p:font typeface="Congenial" panose="02000503040000020004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01DB04-E15C-3223-F49B-DE929EA23088}" name="celso farias" initials="cf" userId="25c7f24a5fa08e9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414"/>
    <a:srgbClr val="003300"/>
    <a:srgbClr val="536C53"/>
    <a:srgbClr val="FFB86C"/>
    <a:srgbClr val="1DB9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9EF78A-D2A2-4969-93A1-DA62F2100CB8}">
  <a:tblStyle styleId="{279EF78A-D2A2-4969-93A1-DA62F2100CB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80258" autoAdjust="0"/>
  </p:normalViewPr>
  <p:slideViewPr>
    <p:cSldViewPr snapToGrid="0">
      <p:cViewPr varScale="1">
        <p:scale>
          <a:sx n="67" d="100"/>
          <a:sy n="67" d="100"/>
        </p:scale>
        <p:origin x="1344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Congenial" panose="02000503040000020004" pitchFamily="2" charset="0"/>
        <a:ea typeface="Congenial" panose="02000503040000020004" pitchFamily="2" charset="0"/>
        <a:cs typeface="Calibri" panose="020F0502020204030204" pitchFamily="34" charset="0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Aveces</a:t>
            </a:r>
            <a:r>
              <a:rPr lang="en-US" dirty="0"/>
              <a:t> es </a:t>
            </a:r>
            <a:r>
              <a:rPr lang="en-US" dirty="0" err="1"/>
              <a:t>dificil</a:t>
            </a:r>
            <a:r>
              <a:rPr lang="en-US" dirty="0"/>
              <a:t> dares Cuenta </a:t>
            </a:r>
            <a:r>
              <a:rPr lang="en-US" dirty="0" err="1"/>
              <a:t>cuando</a:t>
            </a:r>
            <a:r>
              <a:rPr lang="en-US" dirty="0"/>
              <a:t> temenos </a:t>
            </a:r>
            <a:r>
              <a:rPr lang="en-US" dirty="0" err="1"/>
              <a:t>el</a:t>
            </a:r>
            <a:r>
              <a:rPr lang="en-US" dirty="0"/>
              <a:t> future </a:t>
            </a:r>
            <a:r>
              <a:rPr lang="en-US" dirty="0" err="1"/>
              <a:t>frente</a:t>
            </a:r>
            <a:r>
              <a:rPr lang="en-US" dirty="0"/>
              <a:t> a </a:t>
            </a:r>
            <a:r>
              <a:rPr lang="en-US" dirty="0" err="1"/>
              <a:t>nuestros</a:t>
            </a:r>
            <a:r>
              <a:rPr lang="en-US" dirty="0"/>
              <a:t> ojos. </a:t>
            </a:r>
            <a:r>
              <a:rPr lang="en-US" dirty="0" err="1"/>
              <a:t>Nisiquiera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mejores</a:t>
            </a:r>
            <a:r>
              <a:rPr lang="en-US" dirty="0"/>
              <a:t> </a:t>
            </a:r>
            <a:r>
              <a:rPr lang="en-US" dirty="0" err="1"/>
              <a:t>inversionistas</a:t>
            </a:r>
            <a:r>
              <a:rPr lang="en-US" dirty="0"/>
              <a:t> son </a:t>
            </a:r>
            <a:r>
              <a:rPr lang="en-US" dirty="0" err="1"/>
              <a:t>adivinos</a:t>
            </a:r>
            <a:r>
              <a:rPr lang="en-US" dirty="0"/>
              <a:t>. </a:t>
            </a:r>
            <a:r>
              <a:rPr lang="en-US" dirty="0" err="1"/>
              <a:t>Acaso</a:t>
            </a:r>
            <a:r>
              <a:rPr lang="en-US" dirty="0"/>
              <a:t> seria mas </a:t>
            </a:r>
            <a:r>
              <a:rPr lang="en-US" dirty="0" err="1"/>
              <a:t>facil</a:t>
            </a:r>
            <a:r>
              <a:rPr lang="en-US" dirty="0"/>
              <a:t> </a:t>
            </a:r>
            <a:r>
              <a:rPr lang="en-US" dirty="0" err="1"/>
              <a:t>distinguir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future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estuviera</a:t>
            </a:r>
            <a:r>
              <a:rPr lang="en-US" dirty="0"/>
              <a:t> tan </a:t>
            </a:r>
            <a:r>
              <a:rPr lang="en-US" dirty="0" err="1"/>
              <a:t>cerca</a:t>
            </a:r>
            <a:r>
              <a:rPr lang="en-US" dirty="0"/>
              <a:t> de </a:t>
            </a:r>
            <a:r>
              <a:rPr lang="en-US" dirty="0" err="1"/>
              <a:t>nuestros</a:t>
            </a:r>
            <a:r>
              <a:rPr lang="en-US" dirty="0"/>
              <a:t> ojos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visor de </a:t>
            </a:r>
            <a:r>
              <a:rPr lang="en-US" dirty="0" err="1"/>
              <a:t>realidad</a:t>
            </a:r>
            <a:r>
              <a:rPr lang="en-US" dirty="0"/>
              <a:t> virtual?</a:t>
            </a:r>
            <a:br>
              <a:rPr lang="en-US" dirty="0"/>
            </a:br>
            <a:r>
              <a:rPr lang="en-US" dirty="0" err="1"/>
              <a:t>Buenas</a:t>
            </a:r>
            <a:r>
              <a:rPr lang="en-US" dirty="0"/>
              <a:t> </a:t>
            </a:r>
            <a:r>
              <a:rPr lang="en-US" dirty="0" err="1"/>
              <a:t>tardes</a:t>
            </a:r>
            <a:r>
              <a:rPr lang="en-US" dirty="0"/>
              <a:t> </a:t>
            </a:r>
            <a:r>
              <a:rPr lang="en-US" dirty="0" err="1"/>
              <a:t>compañeros</a:t>
            </a:r>
            <a:r>
              <a:rPr lang="en-US" dirty="0"/>
              <a:t>, </a:t>
            </a:r>
            <a:r>
              <a:rPr lang="en-US" dirty="0" err="1"/>
              <a:t>profesora</a:t>
            </a:r>
            <a:r>
              <a:rPr lang="en-US" dirty="0"/>
              <a:t>, </a:t>
            </a:r>
            <a:r>
              <a:rPr lang="en-US" dirty="0" err="1"/>
              <a:t>somos</a:t>
            </a:r>
            <a:r>
              <a:rPr lang="en-US" dirty="0"/>
              <a:t> … y </a:t>
            </a:r>
            <a:r>
              <a:rPr lang="en-US" dirty="0" err="1"/>
              <a:t>presentaremos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/>
              <a:t> Proyecto de inversion 3dlab.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Book Antiqua" panose="02040602050305030304" pitchFamily="18" charset="0"/>
              </a:rPr>
              <a:t>1</a:t>
            </a:fld>
            <a:endParaRPr lang="en-US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3 problemas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s-CL" dirty="0"/>
              <a:t>saturación… 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s-CL" dirty="0"/>
              <a:t>Accesibilidad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s-CL" dirty="0"/>
              <a:t>Falta de experiencia</a:t>
            </a: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Inmersivo, seguro, controlado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Practicar procedimientos y conocer el equipamiento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 err="1"/>
              <a:t>labster</a:t>
            </a:r>
            <a:endParaRPr dirty="0"/>
          </a:p>
        </p:txBody>
      </p:sp>
      <p:sp>
        <p:nvSpPr>
          <p:cNvPr id="136" name="Google Shape;1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Modelo B2B dividido en 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Operamos bajo scrum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equipo</a:t>
            </a: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2BB8195-A6B1-7672-8B95-D10504A89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B110441-AFC4-B0D6-C986-520CA27790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Modelo B2B dividido en 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Operamos bajo scrum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CEAE1C8A-6559-1E65-A13B-83DB7C5600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1114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D66E018-EC82-8161-A6B5-B34F4B84A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16CB396-AA73-0A10-A41D-52960DBBAD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Modelo B2B dividido en 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Operamos bajo scrum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A293FE78-9013-E148-3B90-FF0AE5D426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70793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La puesta en marcha requiere… </a:t>
            </a:r>
            <a:r>
              <a:rPr lang="es-CL" dirty="0" err="1"/>
              <a:t>Inversion</a:t>
            </a:r>
            <a:r>
              <a:rPr lang="es-CL" dirty="0"/>
              <a:t>..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Los egresos operacionales … sueldos, consumos, licencias…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 err="1"/>
              <a:t>Proyeccion</a:t>
            </a:r>
            <a:r>
              <a:rPr lang="es-CL" dirty="0"/>
              <a:t> de dinero…</a:t>
            </a:r>
            <a:endParaRPr dirty="0"/>
          </a:p>
        </p:txBody>
      </p:sp>
      <p:sp>
        <p:nvSpPr>
          <p:cNvPr id="134" name="Google Shape;1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Requerimos 7 millones, 70 / 30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Flujo de caja…  3er año recuperamos</a:t>
            </a: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/>
              <a:t>Van </a:t>
            </a:r>
            <a:r>
              <a:rPr lang="es-CL" dirty="0" err="1"/>
              <a:t>tir</a:t>
            </a:r>
            <a:r>
              <a:rPr lang="es-CL" dirty="0"/>
              <a:t> </a:t>
            </a:r>
            <a:r>
              <a:rPr lang="es-CL" dirty="0" err="1"/>
              <a:t>payback</a:t>
            </a:r>
            <a:endParaRPr dirty="0"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BD541-B9E8-F0F5-FE96-F40DD9AB2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9453D-D709-ACE6-3332-EEF23EAC0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C4F1F-3C78-735B-0C93-5A9F5F728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Aveces</a:t>
            </a:r>
            <a:r>
              <a:rPr lang="en-US" dirty="0"/>
              <a:t> es </a:t>
            </a:r>
            <a:r>
              <a:rPr lang="en-US" dirty="0" err="1"/>
              <a:t>dificil</a:t>
            </a:r>
            <a:r>
              <a:rPr lang="en-US" dirty="0"/>
              <a:t> dares Cuenta </a:t>
            </a:r>
            <a:r>
              <a:rPr lang="en-US" dirty="0" err="1"/>
              <a:t>cuando</a:t>
            </a:r>
            <a:r>
              <a:rPr lang="en-US" dirty="0"/>
              <a:t> temenos </a:t>
            </a:r>
            <a:r>
              <a:rPr lang="en-US" dirty="0" err="1"/>
              <a:t>el</a:t>
            </a:r>
            <a:r>
              <a:rPr lang="en-US" dirty="0"/>
              <a:t> future </a:t>
            </a:r>
            <a:r>
              <a:rPr lang="en-US" dirty="0" err="1"/>
              <a:t>frente</a:t>
            </a:r>
            <a:r>
              <a:rPr lang="en-US" dirty="0"/>
              <a:t> a </a:t>
            </a:r>
            <a:r>
              <a:rPr lang="en-US" dirty="0" err="1"/>
              <a:t>nuestros</a:t>
            </a:r>
            <a:r>
              <a:rPr lang="en-US" dirty="0"/>
              <a:t> ojos. </a:t>
            </a:r>
            <a:r>
              <a:rPr lang="en-US" dirty="0" err="1"/>
              <a:t>Nisiquiera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mejores</a:t>
            </a:r>
            <a:r>
              <a:rPr lang="en-US" dirty="0"/>
              <a:t> </a:t>
            </a:r>
            <a:r>
              <a:rPr lang="en-US" dirty="0" err="1"/>
              <a:t>inversionistas</a:t>
            </a:r>
            <a:r>
              <a:rPr lang="en-US" dirty="0"/>
              <a:t> son </a:t>
            </a:r>
            <a:r>
              <a:rPr lang="en-US" dirty="0" err="1"/>
              <a:t>adivinos</a:t>
            </a:r>
            <a:r>
              <a:rPr lang="en-US" dirty="0"/>
              <a:t>. </a:t>
            </a:r>
            <a:r>
              <a:rPr lang="en-US" dirty="0" err="1"/>
              <a:t>Acaso</a:t>
            </a:r>
            <a:r>
              <a:rPr lang="en-US" dirty="0"/>
              <a:t> seria mas </a:t>
            </a:r>
            <a:r>
              <a:rPr lang="en-US" dirty="0" err="1"/>
              <a:t>facil</a:t>
            </a:r>
            <a:r>
              <a:rPr lang="en-US" dirty="0"/>
              <a:t> </a:t>
            </a:r>
            <a:r>
              <a:rPr lang="en-US" dirty="0" err="1"/>
              <a:t>distinguir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future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estuviera</a:t>
            </a:r>
            <a:r>
              <a:rPr lang="en-US" dirty="0"/>
              <a:t> tan </a:t>
            </a:r>
            <a:r>
              <a:rPr lang="en-US" dirty="0" err="1"/>
              <a:t>cerca</a:t>
            </a:r>
            <a:r>
              <a:rPr lang="en-US" dirty="0"/>
              <a:t> de </a:t>
            </a:r>
            <a:r>
              <a:rPr lang="en-US" dirty="0" err="1"/>
              <a:t>nuestros</a:t>
            </a:r>
            <a:r>
              <a:rPr lang="en-US" dirty="0"/>
              <a:t> ojos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visor de </a:t>
            </a:r>
            <a:r>
              <a:rPr lang="en-US" dirty="0" err="1"/>
              <a:t>realidad</a:t>
            </a:r>
            <a:r>
              <a:rPr lang="en-US" dirty="0"/>
              <a:t> virtual?</a:t>
            </a:r>
            <a:br>
              <a:rPr lang="en-US" dirty="0"/>
            </a:br>
            <a:r>
              <a:rPr lang="en-US" dirty="0" err="1"/>
              <a:t>Buenas</a:t>
            </a:r>
            <a:r>
              <a:rPr lang="en-US" dirty="0"/>
              <a:t> </a:t>
            </a:r>
            <a:r>
              <a:rPr lang="en-US" dirty="0" err="1"/>
              <a:t>tardes</a:t>
            </a:r>
            <a:r>
              <a:rPr lang="en-US" dirty="0"/>
              <a:t> </a:t>
            </a:r>
            <a:r>
              <a:rPr lang="en-US" dirty="0" err="1"/>
              <a:t>compañeros</a:t>
            </a:r>
            <a:r>
              <a:rPr lang="en-US" dirty="0"/>
              <a:t>, </a:t>
            </a:r>
            <a:r>
              <a:rPr lang="en-US" dirty="0" err="1"/>
              <a:t>profesora</a:t>
            </a:r>
            <a:r>
              <a:rPr lang="en-US" dirty="0"/>
              <a:t>, </a:t>
            </a:r>
            <a:r>
              <a:rPr lang="en-US" dirty="0" err="1"/>
              <a:t>somos</a:t>
            </a:r>
            <a:r>
              <a:rPr lang="en-US" dirty="0"/>
              <a:t> … y </a:t>
            </a:r>
            <a:r>
              <a:rPr lang="en-US" dirty="0" err="1"/>
              <a:t>presentaremos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Proyecto de inversion 3dlab.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A4E9A-7FB2-1D6C-2AAE-49A950E894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Book Antiqua" panose="02040602050305030304" pitchFamily="18" charset="0"/>
              </a:rPr>
              <a:t>28</a:t>
            </a:fld>
            <a:endParaRPr lang="en-US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04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Congenial" panose="0200050304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Congenial" panose="02000503040000020004" pitchFamily="2" charset="0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Congenial" panose="0200050304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ongenial" panose="02000503040000020004" pitchFamily="2" charset="0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>
                <a:latin typeface="Congenial" panose="0200050304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Congenial" panose="02000503040000020004" pitchFamily="2" charset="0"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Congenial" panose="0200050304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Congenial" panose="02000503040000020004" pitchFamily="2" charset="0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 dirty="0"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Congenial" panose="02000503040000020004" pitchFamily="2" charset="0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 dirty="0"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>
                <a:latin typeface="Congenial" panose="0200050304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Congenial" panose="02000503040000020004" pitchFamily="2" charset="0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Congenial" panose="02000503040000020004" pitchFamily="2" charset="0"/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 dirty="0"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Congenial" panose="02000503040000020004" pitchFamily="2" charset="0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Congenial" panose="02000503040000020004" pitchFamily="2" charset="0"/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 dirty="0"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Congenial" panose="0200050304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latin typeface="Congenial" panose="0200050304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Congenial" panose="02000503040000020004" pitchFamily="2" charset="0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 dirty="0"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Congenial" panose="02000503040000020004" pitchFamily="2" charset="0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 dirty="0"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latin typeface="Congenial" panose="0200050304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Congenial" panose="02000503040000020004" pitchFamily="2" charset="0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 dirty="0"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Congenial" panose="0200050304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ongenial" panose="02000503040000020004" pitchFamily="2" charset="0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Congenial" panose="0200050304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Congenial" panose="02000503040000020004" pitchFamily="2" charset="0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CL"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28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ongenial" panose="02000503040000020004" pitchFamily="2" charset="0"/>
                <a:ea typeface="Congenial" panose="02000503040000020004" pitchFamily="2" charset="0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s-CL"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ongenial" panose="02000503040000020004" pitchFamily="2" charset="0"/>
                <a:ea typeface="Congenial" panose="02000503040000020004" pitchFamily="2" charset="0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s-CL"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ongenial" panose="02000503040000020004" pitchFamily="2" charset="0"/>
                <a:ea typeface="Congenial" panose="02000503040000020004" pitchFamily="2" charset="0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ongenial" panose="02000503040000020004" pitchFamily="2" charset="0"/>
          <a:ea typeface="Congenial" panose="02000503040000020004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ongenial" panose="02000503040000020004" pitchFamily="2" charset="0"/>
          <a:ea typeface="Congenial" panose="02000503040000020004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8.pn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5" Type="http://schemas.microsoft.com/office/2007/relationships/hdphoto" Target="../media/hdphoto2.wdp"/><Relationship Id="rId10" Type="http://schemas.microsoft.com/office/2007/relationships/hdphoto" Target="../media/hdphoto1.wdp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5120640" cy="5120640"/>
          </a:xfrm>
          <a:prstGeom prst="ellipse">
            <a:avLst/>
          </a:prstGeom>
          <a:ln w="19050">
            <a:solidFill>
              <a:srgbClr val="008000">
                <a:alpha val="17255"/>
              </a:srgbClr>
            </a:solidFill>
            <a:prstDash val="solid"/>
          </a:ln>
        </p:spPr>
        <p:txBody>
          <a:bodyPr/>
          <a:lstStyle/>
          <a:p>
            <a:endParaRPr lang="es-CL" noProof="0" dirty="0">
              <a:latin typeface="Book Antiqua" panose="020406020503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ln w="19050">
            <a:solidFill>
              <a:srgbClr val="169C46">
                <a:alpha val="44706"/>
              </a:srgbClr>
            </a:solidFill>
            <a:prstDash val="solid"/>
          </a:ln>
        </p:spPr>
        <p:txBody>
          <a:bodyPr/>
          <a:lstStyle/>
          <a:p>
            <a:endParaRPr lang="es-CL" noProof="0" dirty="0">
              <a:latin typeface="Congenial" panose="0200050304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7240" y="1289812"/>
            <a:ext cx="10207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s-CL" sz="7200" b="1" noProof="0" dirty="0">
                <a:solidFill>
                  <a:srgbClr val="131414"/>
                </a:solidFill>
                <a:latin typeface="Congenial" panose="02000503040000020004" pitchFamily="2" charset="0"/>
                <a:cs typeface="Calibri" pitchFamily="34" charset="-120"/>
              </a:rPr>
              <a:t>Tenemos el futuro frente a nuestros ojos</a:t>
            </a:r>
            <a:endParaRPr lang="es-CL" sz="7200" noProof="0" dirty="0">
              <a:solidFill>
                <a:srgbClr val="131414"/>
              </a:solidFill>
              <a:latin typeface="Congenial" panose="0200050304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7240" y="329508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noProof="0" dirty="0">
                <a:solidFill>
                  <a:srgbClr val="003300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Defensa de Inversión en Proyecto 3DLAB</a:t>
            </a:r>
            <a:endParaRPr lang="es-CL" sz="2000" noProof="0" dirty="0">
              <a:solidFill>
                <a:srgbClr val="003300"/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77240" y="3926840"/>
            <a:ext cx="7259320" cy="192532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 sz="1800" noProof="0" dirty="0">
              <a:latin typeface="Book Antiqua" panose="0204060205030503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42999" y="4097527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INTEGRANTES</a:t>
            </a:r>
            <a:endParaRPr lang="es-CL" sz="16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42999" y="4472107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800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Celso Farías – Matías </a:t>
            </a:r>
            <a:r>
              <a:rPr lang="es-CL" sz="1800" noProof="0" dirty="0" err="1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Isidin</a:t>
            </a:r>
            <a:r>
              <a:rPr lang="es-CL" sz="1800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s-CL" sz="1800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</a:br>
            <a:r>
              <a:rPr lang="es-CL" sz="1800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Roberto López – Bastián Soto</a:t>
            </a:r>
            <a:endParaRPr lang="es-CL" sz="1800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434839" y="4097527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DOCENTE</a:t>
            </a:r>
            <a:endParaRPr lang="es-CL" sz="16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434839" y="4420484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800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Paz Hidalgo</a:t>
            </a:r>
            <a:endParaRPr lang="es-CL" sz="1800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42999" y="5019308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ASIGNATURA</a:t>
            </a:r>
            <a:endParaRPr lang="es-CL" sz="16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42999" y="5342265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800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Administración Financiera</a:t>
            </a:r>
            <a:endParaRPr lang="es-CL" sz="1800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434839" y="5019308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FECHA</a:t>
            </a:r>
            <a:endParaRPr lang="es-CL" sz="16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434839" y="5342265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800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22 de Junio de 2026</a:t>
            </a:r>
            <a:endParaRPr lang="es-CL" sz="1800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75DE9043-A902-C196-8A4F-E306CE186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" y="269744"/>
            <a:ext cx="2642825" cy="112624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EC08655-3169-F37D-4506-6FE98CBA8E0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70846" y="269744"/>
            <a:ext cx="1827572" cy="18431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409699"/>
            <a:ext cx="3524250" cy="4192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1409699"/>
            <a:ext cx="3524250" cy="4192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86725" y="1409699"/>
            <a:ext cx="3524250" cy="4192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24850" y="2295525"/>
            <a:ext cx="3048000" cy="69324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00B050"/>
                </a:solidFill>
                <a:latin typeface="Book Antiqua" panose="02040602050305030304" pitchFamily="18" charset="0"/>
                <a:sym typeface="Arial"/>
              </a:rPr>
              <a:t>Concepción de </a:t>
            </a:r>
            <a:r>
              <a:rPr lang="es-CL" sz="285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sym typeface="Arial"/>
              </a:rPr>
              <a:t>3DLab</a:t>
            </a:r>
            <a:endParaRPr lang="es-CL" noProof="0" dirty="0">
              <a:solidFill>
                <a:srgbClr val="00B050"/>
              </a:solidFill>
              <a:latin typeface="Congenial" panose="02000503040000020004" pitchFamily="2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81025" y="971550"/>
            <a:ext cx="110299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sym typeface="Arial"/>
              </a:rPr>
              <a:t>Problemas identificados en la enseñanza práctica de química</a:t>
            </a:r>
            <a:endParaRPr lang="es-CL" sz="18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581025" y="923925"/>
            <a:ext cx="6953250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ongenial" panose="02000503040000020004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8675" y="60198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1162050" y="5915025"/>
            <a:ext cx="10201275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sym typeface="Arial"/>
              </a:rPr>
              <a:t>Los laboratorios físicos son esenciales, </a:t>
            </a:r>
            <a:r>
              <a:rPr lang="es-CL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</a:rPr>
              <a:t>mas</a:t>
            </a:r>
            <a:r>
              <a:rPr lang="es-CL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sym typeface="Arial"/>
              </a:rPr>
              <a:t> actualmente presentan serias limitaciones de acceso, inclusión y preparación previa que afectan el éxito académico.</a:t>
            </a:r>
            <a:endParaRPr lang="es-CL" sz="18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819150" y="4612183"/>
            <a:ext cx="3048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sym typeface="Arial"/>
              </a:rPr>
              <a:t>"La alta demanda limita el tiempo de práctica y la calidad del aprendizaje en el aula real."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819150" y="4516933"/>
            <a:ext cx="3048000" cy="952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ongenial" panose="02000503040000020004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4572000" y="4612183"/>
            <a:ext cx="3048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sym typeface="Arial"/>
              </a:rPr>
              <a:t>"La infraestructura tradicional actual dificulta una participación plenamente accesible y equitativa."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4572000" y="4516933"/>
            <a:ext cx="3048000" cy="952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ongenial" panose="02000503040000020004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8324850" y="4432250"/>
            <a:ext cx="3048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sym typeface="Arial"/>
              </a:rPr>
              <a:t>"Ingresar a un ambiente con reactivos químicos sin preparación previa causa un alto nivel de estrés."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8324850" y="4337000"/>
            <a:ext cx="3048000" cy="952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ongenial" panose="02000503040000020004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16478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 txBox="1"/>
          <p:nvPr/>
        </p:nvSpPr>
        <p:spPr>
          <a:xfrm>
            <a:off x="1427548" y="1727083"/>
            <a:ext cx="26193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sym typeface="Arial"/>
              </a:rPr>
              <a:t>Saturación de laboratorios</a:t>
            </a:r>
            <a:endParaRPr lang="es-CL" sz="1800" b="1" noProof="0" dirty="0">
              <a:solidFill>
                <a:srgbClr val="00B050"/>
              </a:solidFill>
              <a:latin typeface="Congenial" panose="02000503040000020004" pitchFamily="2" charset="0"/>
            </a:endParaRPr>
          </a:p>
        </p:txBody>
      </p:sp>
      <p:pic>
        <p:nvPicPr>
          <p:cNvPr id="107" name="Google Shape;107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72000" y="16478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 txBox="1"/>
          <p:nvPr/>
        </p:nvSpPr>
        <p:spPr>
          <a:xfrm>
            <a:off x="5180398" y="1762877"/>
            <a:ext cx="255460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sym typeface="Arial"/>
              </a:rPr>
              <a:t>Barreras de inclusión</a:t>
            </a:r>
            <a:endParaRPr lang="es-CL" sz="1800" b="1" noProof="0" dirty="0">
              <a:solidFill>
                <a:srgbClr val="00B050"/>
              </a:solidFill>
              <a:latin typeface="Congenial" panose="02000503040000020004" pitchFamily="2" charset="0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4733925" y="2544247"/>
            <a:ext cx="28860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sym typeface="Arial"/>
              </a:rPr>
              <a:t>Mesas de trabajo no adaptadas</a:t>
            </a:r>
            <a:endParaRPr lang="es-CL" sz="24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4733925" y="3151049"/>
            <a:ext cx="28860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sym typeface="Arial"/>
              </a:rPr>
              <a:t>Dificultad para movilidad reducida</a:t>
            </a:r>
            <a:endParaRPr lang="es-CL" sz="24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4733925" y="3885357"/>
            <a:ext cx="28860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sym typeface="Arial"/>
              </a:rPr>
              <a:t>Menor autonomía en las actividades</a:t>
            </a:r>
            <a:endParaRPr lang="es-CL" sz="24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pic>
        <p:nvPicPr>
          <p:cNvPr id="112" name="Google Shape;112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24850" y="16478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8933249" y="1762877"/>
            <a:ext cx="2557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sym typeface="Arial"/>
              </a:rPr>
              <a:t>Falta de experiencia</a:t>
            </a:r>
            <a:endParaRPr lang="es-CL" sz="1800" b="1" noProof="0" dirty="0">
              <a:solidFill>
                <a:srgbClr val="00B050"/>
              </a:solidFill>
              <a:latin typeface="Congenial" panose="02000503040000020004" pitchFamily="2" charset="0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8448674" y="2432595"/>
            <a:ext cx="136588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300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sym typeface="Arial"/>
              </a:rPr>
              <a:t>60%</a:t>
            </a:r>
            <a:endParaRPr lang="es-CL" b="1" noProof="0" dirty="0">
              <a:latin typeface="Congenial" panose="02000503040000020004" pitchFamily="2" charset="0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9550650" y="2443140"/>
            <a:ext cx="1812675" cy="36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 b="0" i="0" u="none" strike="noStrike" cap="none" noProof="0" dirty="0">
                <a:solidFill>
                  <a:srgbClr val="FFFFFF"/>
                </a:solidFill>
                <a:latin typeface="Congenial" panose="02000503040000020004" pitchFamily="2" charset="0"/>
                <a:sym typeface="Arial"/>
              </a:rPr>
              <a:t>de novatos provienen de colegios sin laboratorios químicos.</a:t>
            </a:r>
            <a:endParaRPr lang="es-CL" noProof="0" dirty="0">
              <a:latin typeface="Congenial" panose="02000503040000020004" pitchFamily="2" charset="0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8505825" y="3308776"/>
            <a:ext cx="28575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sym typeface="Arial"/>
              </a:rPr>
              <a:t>Genera inseguridad y ansiedad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8515350" y="3692262"/>
            <a:ext cx="28575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sym typeface="Arial"/>
              </a:rPr>
              <a:t>Eleva el riesgo de incidentes/errores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pic>
        <p:nvPicPr>
          <p:cNvPr id="118" name="Google Shape;118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8687" y="1781175"/>
            <a:ext cx="238125" cy="19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14571E25-928B-0E54-E02E-4AB0990A3683}"/>
              </a:ext>
            </a:extLst>
          </p:cNvPr>
          <p:cNvGrpSpPr/>
          <p:nvPr/>
        </p:nvGrpSpPr>
        <p:grpSpPr>
          <a:xfrm>
            <a:off x="819150" y="2295525"/>
            <a:ext cx="3110388" cy="1745158"/>
            <a:chOff x="819150" y="2295525"/>
            <a:chExt cx="3048000" cy="1028700"/>
          </a:xfrm>
        </p:grpSpPr>
        <p:pic>
          <p:nvPicPr>
            <p:cNvPr id="89" name="Google Shape;89;p13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19150" y="2295525"/>
              <a:ext cx="146685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3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2400300" y="2295525"/>
              <a:ext cx="146685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3" descr="image.png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819150" y="2867025"/>
              <a:ext cx="146685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3" descr="image.png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2400300" y="2867025"/>
              <a:ext cx="146685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3"/>
            <p:cNvSpPr txBox="1"/>
            <p:nvPr/>
          </p:nvSpPr>
          <p:spPr>
            <a:xfrm>
              <a:off x="962025" y="2352675"/>
              <a:ext cx="1209675" cy="2539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800" b="1" i="0" u="none" strike="noStrike" cap="none" noProof="0" dirty="0">
                  <a:solidFill>
                    <a:srgbClr val="92D050"/>
                  </a:solidFill>
                  <a:latin typeface="Congenial" panose="02000503040000020004" pitchFamily="2" charset="0"/>
                  <a:sym typeface="Arial"/>
                </a:rPr>
                <a:t>114</a:t>
              </a:r>
              <a:endParaRPr lang="es-CL" sz="3200" b="1" noProof="0" dirty="0">
                <a:solidFill>
                  <a:srgbClr val="92D050"/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120" name="Google Shape;120;p13"/>
            <p:cNvSpPr txBox="1"/>
            <p:nvPr/>
          </p:nvSpPr>
          <p:spPr>
            <a:xfrm>
              <a:off x="976693" y="2592413"/>
              <a:ext cx="1209675" cy="126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b="0" i="0" u="none" strike="noStrike" cap="none" noProof="0" dirty="0">
                  <a:solidFill>
                    <a:srgbClr val="B3B3B3"/>
                  </a:solidFill>
                  <a:latin typeface="Congenial" panose="02000503040000020004" pitchFamily="2" charset="0"/>
                  <a:sym typeface="Arial"/>
                </a:rPr>
                <a:t>Secciones</a:t>
              </a:r>
              <a:endParaRPr lang="es-CL" sz="2800" noProof="0" dirty="0">
                <a:latin typeface="Congenial" panose="02000503040000020004" pitchFamily="2" charset="0"/>
              </a:endParaRPr>
            </a:p>
          </p:txBody>
        </p:sp>
        <p:sp>
          <p:nvSpPr>
            <p:cNvPr id="121" name="Google Shape;121;p13"/>
            <p:cNvSpPr txBox="1"/>
            <p:nvPr/>
          </p:nvSpPr>
          <p:spPr>
            <a:xfrm>
              <a:off x="2543175" y="2352675"/>
              <a:ext cx="1209675" cy="2539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800" b="1" i="0" u="none" strike="noStrike" cap="none" noProof="0" dirty="0">
                  <a:solidFill>
                    <a:srgbClr val="92D050"/>
                  </a:solidFill>
                  <a:latin typeface="Congenial" panose="02000503040000020004" pitchFamily="2" charset="0"/>
                  <a:sym typeface="Arial"/>
                </a:rPr>
                <a:t>3.772</a:t>
              </a:r>
              <a:endParaRPr lang="es-CL" sz="3200" b="1" noProof="0" dirty="0">
                <a:solidFill>
                  <a:srgbClr val="92D050"/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122" name="Google Shape;122;p13"/>
            <p:cNvSpPr txBox="1"/>
            <p:nvPr/>
          </p:nvSpPr>
          <p:spPr>
            <a:xfrm>
              <a:off x="2557844" y="2592413"/>
              <a:ext cx="1209675" cy="126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b="0" i="0" u="none" strike="noStrike" cap="none" noProof="0" dirty="0">
                  <a:solidFill>
                    <a:srgbClr val="B3B3B3"/>
                  </a:solidFill>
                  <a:latin typeface="Congenial" panose="02000503040000020004" pitchFamily="2" charset="0"/>
                  <a:sym typeface="Arial"/>
                </a:rPr>
                <a:t>Alumnos</a:t>
              </a:r>
              <a:endParaRPr lang="es-CL" sz="2800" noProof="0" dirty="0">
                <a:latin typeface="Congenial" panose="02000503040000020004" pitchFamily="2" charset="0"/>
              </a:endParaRPr>
            </a:p>
          </p:txBody>
        </p:sp>
        <p:sp>
          <p:nvSpPr>
            <p:cNvPr id="123" name="Google Shape;123;p13"/>
            <p:cNvSpPr txBox="1"/>
            <p:nvPr/>
          </p:nvSpPr>
          <p:spPr>
            <a:xfrm>
              <a:off x="962025" y="2924175"/>
              <a:ext cx="1209675" cy="2539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800" b="1" i="0" u="none" strike="noStrike" cap="none" noProof="0" dirty="0">
                  <a:solidFill>
                    <a:srgbClr val="92D050"/>
                  </a:solidFill>
                  <a:latin typeface="Congenial" panose="02000503040000020004" pitchFamily="2" charset="0"/>
                  <a:sym typeface="Arial"/>
                </a:rPr>
                <a:t>3</a:t>
              </a:r>
              <a:endParaRPr lang="es-CL" sz="3200" b="1" noProof="0" dirty="0">
                <a:solidFill>
                  <a:srgbClr val="92D050"/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124" name="Google Shape;124;p13"/>
            <p:cNvSpPr txBox="1"/>
            <p:nvPr/>
          </p:nvSpPr>
          <p:spPr>
            <a:xfrm>
              <a:off x="976693" y="3163913"/>
              <a:ext cx="1209675" cy="126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b="0" i="0" u="none" strike="noStrike" cap="none" noProof="0" dirty="0">
                  <a:solidFill>
                    <a:srgbClr val="B3B3B3"/>
                  </a:solidFill>
                  <a:latin typeface="Congenial" panose="02000503040000020004" pitchFamily="2" charset="0"/>
                  <a:sym typeface="Arial"/>
                </a:rPr>
                <a:t> Encargados</a:t>
              </a:r>
              <a:endParaRPr lang="es-CL" sz="2800" noProof="0" dirty="0">
                <a:latin typeface="Congenial" panose="02000503040000020004" pitchFamily="2" charset="0"/>
              </a:endParaRPr>
            </a:p>
          </p:txBody>
        </p:sp>
        <p:sp>
          <p:nvSpPr>
            <p:cNvPr id="125" name="Google Shape;125;p13"/>
            <p:cNvSpPr txBox="1"/>
            <p:nvPr/>
          </p:nvSpPr>
          <p:spPr>
            <a:xfrm>
              <a:off x="2543175" y="2924175"/>
              <a:ext cx="1209675" cy="2539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2800" b="1" i="0" u="none" strike="noStrike" cap="none" noProof="0" dirty="0">
                  <a:solidFill>
                    <a:srgbClr val="92D050"/>
                  </a:solidFill>
                  <a:latin typeface="Congenial" panose="02000503040000020004" pitchFamily="2" charset="0"/>
                  <a:sym typeface="Arial"/>
                </a:rPr>
                <a:t>24</a:t>
              </a:r>
              <a:endParaRPr lang="es-CL" sz="3200" b="1" noProof="0" dirty="0">
                <a:solidFill>
                  <a:srgbClr val="92D050"/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126" name="Google Shape;126;p13"/>
            <p:cNvSpPr txBox="1"/>
            <p:nvPr/>
          </p:nvSpPr>
          <p:spPr>
            <a:xfrm>
              <a:off x="2557844" y="3163913"/>
              <a:ext cx="1209675" cy="126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b="0" i="0" u="none" strike="noStrike" cap="none" noProof="0" dirty="0" err="1">
                  <a:solidFill>
                    <a:srgbClr val="B3B3B3"/>
                  </a:solidFill>
                  <a:latin typeface="Congenial" panose="02000503040000020004" pitchFamily="2" charset="0"/>
                  <a:sym typeface="Arial"/>
                </a:rPr>
                <a:t>Máx</a:t>
              </a:r>
              <a:r>
                <a:rPr lang="es-CL" b="0" i="0" u="none" strike="noStrike" cap="none" noProof="0" dirty="0">
                  <a:solidFill>
                    <a:srgbClr val="B3B3B3"/>
                  </a:solidFill>
                  <a:latin typeface="Congenial" panose="02000503040000020004" pitchFamily="2" charset="0"/>
                  <a:sym typeface="Arial"/>
                </a:rPr>
                <a:t> / Sesión</a:t>
              </a:r>
              <a:endParaRPr lang="es-CL" sz="2800" noProof="0" dirty="0">
                <a:latin typeface="Congenial" panose="02000503040000020004" pitchFamily="2" charset="0"/>
              </a:endParaRPr>
            </a:p>
          </p:txBody>
        </p:sp>
      </p:grpSp>
      <p:pic>
        <p:nvPicPr>
          <p:cNvPr id="127" name="Google Shape;127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705350" y="17811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434387" y="178117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3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572000" y="2588477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3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572000" y="3335357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572000" y="4069665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15325" y="335458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24850" y="3845792"/>
            <a:ext cx="1143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D3DA36E-FB83-7B9A-CF88-E252681CD924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Celso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AE3329F-FBD6-3D03-3DF6-CEE537244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8" b="29690"/>
          <a:stretch>
            <a:fillRect/>
          </a:stretch>
        </p:blipFill>
        <p:spPr bwMode="auto">
          <a:xfrm>
            <a:off x="6665762" y="1420650"/>
            <a:ext cx="5103098" cy="2411815"/>
          </a:xfrm>
          <a:prstGeom prst="roundRect">
            <a:avLst>
              <a:gd name="adj" fmla="val 985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9" name="Google Shape;13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4345" y="1420650"/>
            <a:ext cx="5860405" cy="50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1012" y="3930097"/>
            <a:ext cx="4883646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/>
        </p:nvSpPr>
        <p:spPr>
          <a:xfrm>
            <a:off x="581025" y="48577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5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sym typeface="Arial"/>
              </a:rPr>
              <a:t>3DLab: la propuesta de solución</a:t>
            </a:r>
            <a:endParaRPr lang="es-CL" noProof="0" dirty="0">
              <a:solidFill>
                <a:srgbClr val="00B050"/>
              </a:solidFill>
              <a:latin typeface="Congenial" panose="02000503040000020004" pitchFamily="2" charset="0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581025" y="971550"/>
            <a:ext cx="110299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sym typeface="Arial"/>
              </a:rPr>
              <a:t>El laboratorio químico inmersivo en realidad virtual</a:t>
            </a:r>
            <a:endParaRPr lang="es-CL" noProof="0" dirty="0">
              <a:latin typeface="Congenial" panose="02000503040000020004" pitchFamily="2" charset="0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581025" y="923925"/>
            <a:ext cx="5291137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ongenial" panose="02000503040000020004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914475" y="5377195"/>
            <a:ext cx="5288829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ongenial" panose="02000503040000020004" pitchFamily="2" charset="0"/>
                <a:sym typeface="Arial"/>
              </a:rPr>
              <a:t>3DLab transforma la preparación práctica en química mediante una experiencia inmersiva, accesible y alineada con las necesidades reales de la educación </a:t>
            </a:r>
            <a:r>
              <a:rPr lang="es-CL" sz="1100" b="0" i="0" u="none" strike="noStrike" cap="none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ongenial" panose="02000503040000020004" pitchFamily="2" charset="0"/>
                <a:sym typeface="Arial"/>
              </a:rPr>
              <a:t>superior</a:t>
            </a:r>
            <a:r>
              <a:rPr lang="es-CL" sz="1050" b="0" i="0" u="none" strike="noStrike" cap="none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Congenial" panose="02000503040000020004" pitchFamily="2" charset="0"/>
                <a:sym typeface="Arial"/>
              </a:rPr>
              <a:t>.</a:t>
            </a:r>
            <a:endParaRPr lang="es-CL" sz="1800" noProof="0" dirty="0">
              <a:solidFill>
                <a:schemeClr val="tx1">
                  <a:lumMod val="95000"/>
                  <a:lumOff val="5000"/>
                </a:schemeClr>
              </a:solidFill>
              <a:latin typeface="Congenial" panose="02000503040000020004" pitchFamily="2" charset="0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6999137" y="4111072"/>
            <a:ext cx="4407396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sym typeface="Arial"/>
              </a:rPr>
              <a:t>BENCHMARK REFERENCIAL</a:t>
            </a:r>
            <a:endParaRPr lang="es-CL" b="1" noProof="0" dirty="0">
              <a:solidFill>
                <a:srgbClr val="00B050"/>
              </a:solidFill>
              <a:latin typeface="Congenial" panose="02000503040000020004" pitchFamily="2" charset="0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6999137" y="4349197"/>
            <a:ext cx="4407396" cy="952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ongenial" panose="02000503040000020004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1042987" y="1599813"/>
            <a:ext cx="24915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EF4444"/>
                </a:solidFill>
                <a:latin typeface="Congenial" panose="02000503040000020004" pitchFamily="2" charset="0"/>
                <a:sym typeface="Arial"/>
              </a:rPr>
              <a:t>DESAFÍOS</a:t>
            </a:r>
            <a:endParaRPr lang="es-CL" sz="2400" b="1" noProof="0" dirty="0">
              <a:latin typeface="Congenial" panose="02000503040000020004" pitchFamily="2" charset="0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3830240" y="1599813"/>
            <a:ext cx="249171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sym typeface="Arial"/>
              </a:rPr>
              <a:t>SOLUCIONES 3DLAB</a:t>
            </a:r>
            <a:endParaRPr lang="es-CL" sz="2400" b="1" noProof="0" dirty="0">
              <a:latin typeface="Congenial" panose="02000503040000020004" pitchFamily="2" charset="0"/>
            </a:endParaRPr>
          </a:p>
        </p:txBody>
      </p:sp>
      <p:pic>
        <p:nvPicPr>
          <p:cNvPr id="155" name="Google Shape;15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9800" y="1631894"/>
            <a:ext cx="220325" cy="20923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4"/>
          <p:cNvSpPr txBox="1"/>
          <p:nvPr/>
        </p:nvSpPr>
        <p:spPr>
          <a:xfrm>
            <a:off x="981075" y="2224510"/>
            <a:ext cx="2339578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sym typeface="Arial"/>
              </a:rPr>
              <a:t>Saturación extrema de laboratorios</a:t>
            </a:r>
            <a:endParaRPr lang="es-CL" sz="2400" noProof="0" dirty="0">
              <a:latin typeface="Congenial" panose="02000503040000020004" pitchFamily="2" charset="0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1014488" y="2940893"/>
            <a:ext cx="2434828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sym typeface="Arial"/>
              </a:rPr>
              <a:t>Barreras de accesibilidad física</a:t>
            </a:r>
            <a:endParaRPr lang="es-CL" sz="2400" noProof="0" dirty="0">
              <a:latin typeface="Congenial" panose="02000503040000020004" pitchFamily="2" charset="0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1014488" y="3575109"/>
            <a:ext cx="2434828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sym typeface="Arial"/>
              </a:rPr>
              <a:t>Nula experiencia de uso previa</a:t>
            </a:r>
            <a:endParaRPr lang="es-CL" sz="2400" noProof="0" dirty="0">
              <a:latin typeface="Congenial" panose="02000503040000020004" pitchFamily="2" charset="0"/>
            </a:endParaRPr>
          </a:p>
        </p:txBody>
      </p:sp>
      <p:pic>
        <p:nvPicPr>
          <p:cNvPr id="159" name="Google Shape;15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67053" y="1631894"/>
            <a:ext cx="220325" cy="20923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4"/>
          <p:cNvSpPr txBox="1"/>
          <p:nvPr/>
        </p:nvSpPr>
        <p:spPr>
          <a:xfrm>
            <a:off x="3787378" y="2224510"/>
            <a:ext cx="2415926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sym typeface="Arial"/>
              </a:rPr>
              <a:t>Simulación inmersiva realista en VR</a:t>
            </a:r>
            <a:endParaRPr lang="es-CL" sz="2400" noProof="0" dirty="0">
              <a:latin typeface="Congenial" panose="02000503040000020004" pitchFamily="2" charset="0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3820791" y="2940893"/>
            <a:ext cx="2415926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sym typeface="Arial"/>
              </a:rPr>
              <a:t>Entrenamiento previo seguro y guiado</a:t>
            </a:r>
            <a:endParaRPr lang="es-CL" sz="2400" noProof="0" dirty="0">
              <a:latin typeface="Congenial" panose="02000503040000020004" pitchFamily="2" charset="0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3820791" y="3575109"/>
            <a:ext cx="2415926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sym typeface="Arial"/>
              </a:rPr>
              <a:t>Inclusión para movilidad reducida</a:t>
            </a:r>
            <a:endParaRPr lang="es-CL" sz="2400" noProof="0" dirty="0">
              <a:latin typeface="Congenial" panose="02000503040000020004" pitchFamily="2" charset="0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3820791" y="4242633"/>
            <a:ext cx="2415926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b="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sym typeface="Arial"/>
              </a:rPr>
              <a:t>Ensayos ilimitados y repetibles</a:t>
            </a:r>
            <a:endParaRPr lang="es-CL" sz="2400" noProof="0" dirty="0">
              <a:latin typeface="Congenial" panose="02000503040000020004" pitchFamily="2" charset="0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7192242" y="4416981"/>
            <a:ext cx="193699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 strike="noStrike" cap="none" noProof="0" dirty="0">
                <a:solidFill>
                  <a:srgbClr val="FF0000"/>
                </a:solidFill>
                <a:latin typeface="Congenial" panose="02000503040000020004" pitchFamily="2" charset="0"/>
                <a:sym typeface="Arial"/>
              </a:rPr>
              <a:t>LABSTER</a:t>
            </a:r>
            <a:endParaRPr lang="es-CL" sz="1800" noProof="0" dirty="0">
              <a:solidFill>
                <a:srgbClr val="FF0000"/>
              </a:solidFill>
              <a:latin typeface="Congenial" panose="02000503040000020004" pitchFamily="2" charset="0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7065886" y="4756976"/>
            <a:ext cx="194652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sym typeface="Arial"/>
              </a:rPr>
              <a:t>Licencias costosas por estudiante</a:t>
            </a:r>
            <a:endParaRPr lang="es-CL" sz="2000" noProof="0" dirty="0">
              <a:latin typeface="Congenial" panose="02000503040000020004" pitchFamily="2" charset="0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7065886" y="5200202"/>
            <a:ext cx="1946523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sym typeface="Arial"/>
              </a:rPr>
              <a:t>Uso limitado en monitor plano</a:t>
            </a:r>
            <a:endParaRPr lang="es-CL" sz="2000" noProof="0" dirty="0">
              <a:latin typeface="Congenial" panose="02000503040000020004" pitchFamily="2" charset="0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7065886" y="5595801"/>
            <a:ext cx="1946523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sym typeface="Arial"/>
              </a:rPr>
              <a:t>Contenidos estandarizados</a:t>
            </a:r>
            <a:endParaRPr lang="es-CL" sz="2000" noProof="0" dirty="0">
              <a:latin typeface="Congenial" panose="02000503040000020004" pitchFamily="2" charset="0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9510240" y="4416981"/>
            <a:ext cx="191794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sym typeface="Arial"/>
              </a:rPr>
              <a:t>3DLAB</a:t>
            </a:r>
            <a:endParaRPr lang="es-CL" sz="1800" noProof="0" dirty="0">
              <a:latin typeface="Congenial" panose="02000503040000020004" pitchFamily="2" charset="0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9364834" y="4756977"/>
            <a:ext cx="194652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sym typeface="Arial"/>
              </a:rPr>
              <a:t>Plataforma propia institucional</a:t>
            </a:r>
            <a:endParaRPr lang="es-CL" sz="2000" noProof="0" dirty="0">
              <a:latin typeface="Congenial" panose="02000503040000020004" pitchFamily="2" charset="0"/>
            </a:endParaRPr>
          </a:p>
        </p:txBody>
      </p:sp>
      <p:sp>
        <p:nvSpPr>
          <p:cNvPr id="170" name="Google Shape;170;p14"/>
          <p:cNvSpPr txBox="1"/>
          <p:nvPr/>
        </p:nvSpPr>
        <p:spPr>
          <a:xfrm>
            <a:off x="9364834" y="5187000"/>
            <a:ext cx="194652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sym typeface="Arial"/>
              </a:rPr>
              <a:t>Inmersión 100% en realidad virtual</a:t>
            </a:r>
            <a:endParaRPr lang="es-CL" sz="2000" noProof="0" dirty="0">
              <a:latin typeface="Congenial" panose="02000503040000020004" pitchFamily="2" charset="0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9364834" y="5654038"/>
            <a:ext cx="194652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sym typeface="Arial"/>
              </a:rPr>
              <a:t>Diseñado a la medida curricular</a:t>
            </a:r>
            <a:endParaRPr lang="es-CL" sz="2000" noProof="0" dirty="0">
              <a:latin typeface="Congenial" panose="02000503040000020004" pitchFamily="2" charset="0"/>
            </a:endParaRPr>
          </a:p>
        </p:txBody>
      </p:sp>
      <p:pic>
        <p:nvPicPr>
          <p:cNvPr id="173" name="Google Shape;17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03961" y="4878627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03961" y="5237214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03961" y="5632813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4"/>
          <p:cNvPicPr preferRelativeResize="0"/>
          <p:nvPr/>
        </p:nvPicPr>
        <p:blipFill>
          <a:blip r:embed="rId9">
            <a:clrChange>
              <a:clrFrom>
                <a:srgbClr val="0E0E0E">
                  <a:alpha val="60000"/>
                </a:srgbClr>
              </a:clrFrom>
              <a:clrTo>
                <a:srgbClr val="0E0E0E">
                  <a:alpha val="0"/>
                </a:srgbClr>
              </a:clrTo>
            </a:clrChange>
            <a:alphaModFix/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200857" y="4430874"/>
            <a:ext cx="259153" cy="258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02909" y="4878627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02909" y="5308652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02909" y="5775688"/>
            <a:ext cx="857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9148" y="2380695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0822" y="3044089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9149" y="3661888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613768" y="2318782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638514" y="3044089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638514" y="3678305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638514" y="4345829"/>
            <a:ext cx="1047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49;p14">
            <a:extLst>
              <a:ext uri="{FF2B5EF4-FFF2-40B4-BE49-F238E27FC236}">
                <a16:creationId xmlns:a16="http://schemas.microsoft.com/office/drawing/2014/main" id="{A5DD796C-B69F-5A26-8ED6-14F81C6BD3C8}"/>
              </a:ext>
            </a:extLst>
          </p:cNvPr>
          <p:cNvSpPr txBox="1"/>
          <p:nvPr/>
        </p:nvSpPr>
        <p:spPr>
          <a:xfrm>
            <a:off x="6861126" y="3563595"/>
            <a:ext cx="1810868" cy="24622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 b="0" i="0" u="none" strike="noStrike" cap="none" noProof="0" dirty="0">
                <a:solidFill>
                  <a:schemeClr val="tx1"/>
                </a:solidFill>
                <a:latin typeface="Congenial" panose="02000503040000020004" pitchFamily="2" charset="0"/>
                <a:sym typeface="Arial"/>
              </a:rPr>
              <a:t> </a:t>
            </a:r>
            <a:r>
              <a:rPr lang="es-CL" sz="1600" b="0" i="0" u="none" strike="noStrike" cap="none" noProof="0" dirty="0">
                <a:solidFill>
                  <a:schemeClr val="tx1"/>
                </a:solidFill>
                <a:latin typeface="Congenial" panose="02000503040000020004" pitchFamily="2" charset="0"/>
                <a:sym typeface="Arial"/>
              </a:rPr>
              <a:t>Ambiente de 3Dlab</a:t>
            </a:r>
            <a:endParaRPr lang="es-CL" noProof="0" dirty="0">
              <a:solidFill>
                <a:schemeClr val="tx1"/>
              </a:solidFill>
              <a:latin typeface="Congenial" panose="02000503040000020004" pitchFamily="2" charset="0"/>
            </a:endParaRPr>
          </a:p>
        </p:txBody>
      </p:sp>
      <p:pic>
        <p:nvPicPr>
          <p:cNvPr id="9" name="Imagen 8" descr="Logotipo de Labster">
            <a:extLst>
              <a:ext uri="{FF2B5EF4-FFF2-40B4-BE49-F238E27FC236}">
                <a16:creationId xmlns:a16="http://schemas.microsoft.com/office/drawing/2014/main" id="{A55FA717-0078-588A-D9B6-2321A037F5D0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/>
        </p:blipFill>
        <p:spPr>
          <a:xfrm>
            <a:off x="6811242" y="4305818"/>
            <a:ext cx="425546" cy="43164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60118E0-39A1-D5CD-E7F9-39EE847B727C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Celso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E5A46-ADB8-A611-6E70-82BCA349F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E8029-140A-630E-535D-E6B95DED3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377" y="2249671"/>
            <a:ext cx="9091246" cy="2358658"/>
          </a:xfrm>
        </p:spPr>
        <p:txBody>
          <a:bodyPr>
            <a:normAutofit/>
          </a:bodyPr>
          <a:lstStyle/>
          <a:p>
            <a:r>
              <a:rPr lang="es-CL" sz="7200" b="1" noProof="0" dirty="0">
                <a:solidFill>
                  <a:srgbClr val="00B050"/>
                </a:solidFill>
                <a:latin typeface="Congenial" panose="02000503040000020004" pitchFamily="2" charset="0"/>
              </a:rPr>
              <a:t>Estudio Administrativo</a:t>
            </a:r>
          </a:p>
        </p:txBody>
      </p:sp>
      <p:sp>
        <p:nvSpPr>
          <p:cNvPr id="4" name="Círculo: vacío 3">
            <a:extLst>
              <a:ext uri="{FF2B5EF4-FFF2-40B4-BE49-F238E27FC236}">
                <a16:creationId xmlns:a16="http://schemas.microsoft.com/office/drawing/2014/main" id="{EB5565BA-BA1E-7D0E-27DB-4D022AB36EED}"/>
              </a:ext>
            </a:extLst>
          </p:cNvPr>
          <p:cNvSpPr/>
          <p:nvPr/>
        </p:nvSpPr>
        <p:spPr>
          <a:xfrm>
            <a:off x="9024436" y="3825433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írculo: vacío 5">
            <a:extLst>
              <a:ext uri="{FF2B5EF4-FFF2-40B4-BE49-F238E27FC236}">
                <a16:creationId xmlns:a16="http://schemas.microsoft.com/office/drawing/2014/main" id="{4E96A85D-E419-B29F-1A55-A2C3F507037A}"/>
              </a:ext>
            </a:extLst>
          </p:cNvPr>
          <p:cNvSpPr/>
          <p:nvPr/>
        </p:nvSpPr>
        <p:spPr>
          <a:xfrm>
            <a:off x="10740102" y="2249144"/>
            <a:ext cx="3906118" cy="3829736"/>
          </a:xfrm>
          <a:prstGeom prst="donu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Círculo: vacío 7">
            <a:extLst>
              <a:ext uri="{FF2B5EF4-FFF2-40B4-BE49-F238E27FC236}">
                <a16:creationId xmlns:a16="http://schemas.microsoft.com/office/drawing/2014/main" id="{C0919654-E993-CC83-037F-1A56EC74ADDC}"/>
              </a:ext>
            </a:extLst>
          </p:cNvPr>
          <p:cNvSpPr/>
          <p:nvPr/>
        </p:nvSpPr>
        <p:spPr>
          <a:xfrm>
            <a:off x="-3378579" y="4164012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681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290955"/>
            <a:ext cx="5400675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0300" y="1290955"/>
            <a:ext cx="5400675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86505"/>
            <a:ext cx="5400675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0300" y="3895746"/>
            <a:ext cx="5400675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876299" y="1435290"/>
            <a:ext cx="39960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Estructura Organizacional</a:t>
            </a:r>
            <a:endParaRPr lang="es-CL" sz="2400" b="1" noProof="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876300" y="2000181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</a:t>
            </a:r>
            <a:r>
              <a:rPr lang="es-CL" sz="180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Sociedad de Responsabilidad Limitada (SRL)</a:t>
            </a:r>
            <a:endParaRPr lang="es-CL" sz="2000" noProof="0" dirty="0">
              <a:latin typeface="Book Antiqua" panose="02040602050305030304" pitchFamily="18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76300" y="2513848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</a:t>
            </a:r>
            <a:r>
              <a:rPr lang="es-CL" sz="180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Responsabilidad limitada de los socios</a:t>
            </a:r>
            <a:endParaRPr lang="es-CL" sz="2000" noProof="0" dirty="0">
              <a:latin typeface="Book Antiqua" panose="02040602050305030304" pitchFamily="18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876300" y="3019447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</a:t>
            </a:r>
            <a:r>
              <a:rPr lang="es-CL" sz="180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Administración simple y eficiente</a:t>
            </a:r>
            <a:endParaRPr lang="es-CL" sz="2000" noProof="0" dirty="0">
              <a:latin typeface="Book Antiqua" panose="02040602050305030304" pitchFamily="18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6505575" y="1435290"/>
            <a:ext cx="31864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Recursos Humanos</a:t>
            </a:r>
            <a:endParaRPr lang="es-CL" sz="2400" b="1" noProof="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6505575" y="1981131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</a:t>
            </a:r>
            <a:r>
              <a:rPr lang="es-CL" sz="180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Desarrollador Unity &amp; Modelador 3D</a:t>
            </a:r>
            <a:endParaRPr lang="es-CL" sz="2000" noProof="0" dirty="0">
              <a:latin typeface="Book Antiqua" panose="02040602050305030304" pitchFamily="18" charset="0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6505575" y="2494798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</a:t>
            </a:r>
            <a:r>
              <a:rPr lang="es-CL" sz="180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Diseñador UX/UI &amp; Tester QA</a:t>
            </a:r>
            <a:endParaRPr lang="es-CL" sz="2000" noProof="0" dirty="0">
              <a:latin typeface="Book Antiqua" panose="02040602050305030304" pitchFamily="18" charset="0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6505575" y="3000397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</a:t>
            </a:r>
            <a:r>
              <a:rPr lang="es-CL" sz="180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Especialista en Química</a:t>
            </a:r>
            <a:endParaRPr lang="es-CL" sz="2000" noProof="0" dirty="0">
              <a:latin typeface="Book Antiqua" panose="02040602050305030304" pitchFamily="18" charset="0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876300" y="3940365"/>
            <a:ext cx="39141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Metodología de Trabajo</a:t>
            </a:r>
            <a:endParaRPr lang="es-CL" sz="2000" b="1" noProof="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876300" y="4495731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</a:t>
            </a:r>
            <a:r>
              <a:rPr lang="es-CL" sz="180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Scrum con </a:t>
            </a:r>
            <a:r>
              <a:rPr lang="es-CL" sz="1800" i="0" u="none" strike="noStrike" cap="none" noProof="0" dirty="0" err="1">
                <a:solidFill>
                  <a:srgbClr val="B3B3B3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Sprints</a:t>
            </a:r>
            <a:r>
              <a:rPr lang="es-CL" sz="180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 semanales</a:t>
            </a:r>
            <a:endParaRPr lang="es-CL" sz="2000" noProof="0" dirty="0">
              <a:latin typeface="Book Antiqua" panose="02040602050305030304" pitchFamily="18" charset="0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876300" y="5009398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</a:t>
            </a:r>
            <a:r>
              <a:rPr lang="es-CL" sz="180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Gestión de tareas en Jira</a:t>
            </a:r>
            <a:endParaRPr lang="es-CL" sz="2000" noProof="0" dirty="0">
              <a:latin typeface="Book Antiqua" panose="02040602050305030304" pitchFamily="18" charset="0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876300" y="5514997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</a:t>
            </a:r>
            <a:r>
              <a:rPr lang="es-CL" sz="180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Comunicación asincrónica eficiente</a:t>
            </a:r>
            <a:endParaRPr lang="es-CL" sz="2000" noProof="0" dirty="0">
              <a:latin typeface="Book Antiqua" panose="02040602050305030304" pitchFamily="18" charset="0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6505575" y="3940365"/>
            <a:ext cx="37934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Control y Seguimiento</a:t>
            </a:r>
            <a:endParaRPr lang="es-CL" sz="2000" b="1" noProof="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6505575" y="4495731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</a:t>
            </a:r>
            <a:r>
              <a:rPr lang="es-CL" sz="180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Documentación técnica &amp; Control (Git)</a:t>
            </a:r>
            <a:endParaRPr lang="es-CL" sz="2000" noProof="0" dirty="0">
              <a:latin typeface="Book Antiqua" panose="02040602050305030304" pitchFamily="18" charset="0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6505575" y="5009398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</a:t>
            </a:r>
            <a:r>
              <a:rPr lang="es-CL" sz="180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Pruebas funcionales rigurosas</a:t>
            </a:r>
            <a:endParaRPr lang="es-CL" sz="2000" noProof="0" dirty="0">
              <a:latin typeface="Book Antiqua" panose="02040602050305030304" pitchFamily="18" charset="0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6505575" y="5514997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</a:t>
            </a:r>
            <a:r>
              <a:rPr lang="es-CL" sz="1800" i="0" u="none" strike="noStrike" cap="none" noProof="0" dirty="0">
                <a:solidFill>
                  <a:srgbClr val="B3B3B3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Mantenimiento continuo del sistema</a:t>
            </a:r>
            <a:endParaRPr lang="es-CL" sz="2000" noProof="0" dirty="0">
              <a:latin typeface="Book Antiqua" panose="02040602050305030304" pitchFamily="18" charset="0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581025" y="581025"/>
            <a:ext cx="115815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Montserrat"/>
                <a:cs typeface="Montserrat"/>
                <a:sym typeface="Montserrat"/>
              </a:rPr>
              <a:t>Estructura y Organización</a:t>
            </a:r>
            <a:endParaRPr lang="es-CL" noProof="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581025" y="1133475"/>
            <a:ext cx="4505325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ongenial" panose="02000503040000020004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D0BBEC5-35E6-441C-8666-259DAC782249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Matías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08185-FEEE-0ACE-E921-7F1C0CBA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0AA6EA-CDE4-B8C6-74DE-486BBE69C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377" y="2249671"/>
            <a:ext cx="9091246" cy="2358658"/>
          </a:xfrm>
        </p:spPr>
        <p:txBody>
          <a:bodyPr>
            <a:normAutofit/>
          </a:bodyPr>
          <a:lstStyle/>
          <a:p>
            <a:r>
              <a:rPr lang="es-CL" sz="7200" b="1" noProof="0" dirty="0">
                <a:solidFill>
                  <a:srgbClr val="00B050"/>
                </a:solidFill>
                <a:latin typeface="Congenial" panose="02000503040000020004" pitchFamily="2" charset="0"/>
              </a:rPr>
              <a:t>Estudio Legal</a:t>
            </a:r>
          </a:p>
        </p:txBody>
      </p:sp>
      <p:sp>
        <p:nvSpPr>
          <p:cNvPr id="4" name="Círculo: vacío 3">
            <a:extLst>
              <a:ext uri="{FF2B5EF4-FFF2-40B4-BE49-F238E27FC236}">
                <a16:creationId xmlns:a16="http://schemas.microsoft.com/office/drawing/2014/main" id="{D34D8B49-F573-7028-B298-B1E95E2B4D99}"/>
              </a:ext>
            </a:extLst>
          </p:cNvPr>
          <p:cNvSpPr/>
          <p:nvPr/>
        </p:nvSpPr>
        <p:spPr>
          <a:xfrm>
            <a:off x="9024436" y="3825433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írculo: vacío 5">
            <a:extLst>
              <a:ext uri="{FF2B5EF4-FFF2-40B4-BE49-F238E27FC236}">
                <a16:creationId xmlns:a16="http://schemas.microsoft.com/office/drawing/2014/main" id="{949B914A-2CB0-C8EA-23A4-97509FA82300}"/>
              </a:ext>
            </a:extLst>
          </p:cNvPr>
          <p:cNvSpPr/>
          <p:nvPr/>
        </p:nvSpPr>
        <p:spPr>
          <a:xfrm>
            <a:off x="10740102" y="2249144"/>
            <a:ext cx="3906118" cy="3829736"/>
          </a:xfrm>
          <a:prstGeom prst="donu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Círculo: vacío 7">
            <a:extLst>
              <a:ext uri="{FF2B5EF4-FFF2-40B4-BE49-F238E27FC236}">
                <a16:creationId xmlns:a16="http://schemas.microsoft.com/office/drawing/2014/main" id="{3AACDBC3-592E-1EDF-5EF0-3E278EE0AC93}"/>
              </a:ext>
            </a:extLst>
          </p:cNvPr>
          <p:cNvSpPr/>
          <p:nvPr/>
        </p:nvSpPr>
        <p:spPr>
          <a:xfrm>
            <a:off x="-3378579" y="4164012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039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514475"/>
            <a:ext cx="5400675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0300" y="1514475"/>
            <a:ext cx="5400675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010025"/>
            <a:ext cx="5400675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0300" y="4010025"/>
            <a:ext cx="5400675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755334" y="2095500"/>
            <a:ext cx="5568316" cy="564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942975" y="1716643"/>
            <a:ext cx="38223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Forma Jurídica</a:t>
            </a:r>
            <a:endParaRPr lang="es-CL" sz="2400" b="1" noProof="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876300" y="2223701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Sociedad de Responsabilidad Limitada o</a:t>
            </a:r>
            <a:r>
              <a:rPr lang="es-CL" sz="1800" b="0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 SRL</a:t>
            </a:r>
            <a:endParaRPr lang="es-CL" sz="2000" noProof="0" dirty="0">
              <a:solidFill>
                <a:srgbClr val="92D050"/>
              </a:solidFill>
              <a:latin typeface="Book Antiqua" panose="02040602050305030304" pitchFamily="18" charset="0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876300" y="2732157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Responsabilidad limitada al aporte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76300" y="3268534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Marco legal para startups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6572249" y="1716643"/>
            <a:ext cx="53991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Propiedad Intelectual</a:t>
            </a:r>
            <a:endParaRPr lang="es-CL" sz="2400" b="1" noProof="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6505575" y="2223701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Derechos de autor del software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6505575" y="2732157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Registro de marca </a:t>
            </a:r>
            <a:r>
              <a:rPr lang="es-CL" sz="1800" b="0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3DLAB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6505575" y="3268534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Acuerdos de confidencialidad o </a:t>
            </a:r>
            <a:r>
              <a:rPr lang="es-CL" sz="1800" b="0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NDA</a:t>
            </a:r>
            <a:endParaRPr lang="es-CL" sz="2000" noProof="0" dirty="0">
              <a:solidFill>
                <a:srgbClr val="92D050"/>
              </a:solidFill>
              <a:latin typeface="Book Antiqua" panose="02040602050305030304" pitchFamily="18" charset="0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876300" y="4212193"/>
            <a:ext cx="63069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Cumplimiento Normativo</a:t>
            </a:r>
            <a:endParaRPr lang="es-CL" sz="2400" b="1" noProof="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876300" y="4719251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Protección de datos personales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876300" y="5227707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Normativa de teletrabajo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6300" y="5764084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Cumplimiento tributario con </a:t>
            </a:r>
            <a:r>
              <a:rPr lang="es-CL" sz="1800" b="0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SII </a:t>
            </a: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e</a:t>
            </a:r>
            <a:r>
              <a:rPr lang="es-CL" sz="1800" b="0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 IV</a:t>
            </a:r>
            <a:r>
              <a:rPr lang="es-CL" sz="1800" noProof="0" dirty="0">
                <a:solidFill>
                  <a:srgbClr val="92D050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A</a:t>
            </a:r>
            <a:endParaRPr lang="es-CL" sz="2000" noProof="0" dirty="0">
              <a:solidFill>
                <a:srgbClr val="92D050"/>
              </a:solidFill>
              <a:latin typeface="Book Antiqua" panose="02040602050305030304" pitchFamily="18" charset="0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6638925" y="4212193"/>
            <a:ext cx="58769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Normativas Relevantes</a:t>
            </a:r>
            <a:endParaRPr lang="es-CL" sz="2400" b="1" noProof="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6505575" y="4719251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Ley </a:t>
            </a:r>
            <a:r>
              <a:rPr lang="es-CL" sz="1800" b="0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17.336</a:t>
            </a: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: PI &amp; </a:t>
            </a:r>
            <a:r>
              <a:rPr lang="es-CL" sz="1800" b="0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19.628</a:t>
            </a: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: Datos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6505575" y="5227707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Ley </a:t>
            </a:r>
            <a:r>
              <a:rPr lang="es-CL" sz="1800" b="0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20.422</a:t>
            </a: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: Accesibilidad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6505575" y="5764084"/>
            <a:ext cx="4810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• Ley </a:t>
            </a:r>
            <a:r>
              <a:rPr lang="es-CL" sz="1800" b="0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21.663</a:t>
            </a: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: Ciberseguridad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714851" y="533400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Montserrat"/>
                <a:cs typeface="Montserrat"/>
                <a:sym typeface="Montserrat"/>
              </a:rPr>
              <a:t>Normativa</a:t>
            </a:r>
            <a:endParaRPr lang="es-CL" noProof="0" dirty="0">
              <a:solidFill>
                <a:srgbClr val="00B050"/>
              </a:solidFill>
              <a:latin typeface="Book Antiqua" panose="02040602050305030304" pitchFamily="18" charset="0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581025" y="1133475"/>
            <a:ext cx="7105650" cy="1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ongenial" panose="02000503040000020004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FA1C7FD-31F0-D160-3D44-FEF711889F19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Matías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37270-8AD5-8E8E-2793-35E30B0F2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EADFE-170B-38D7-1365-160FE3FB4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377" y="2249671"/>
            <a:ext cx="9091246" cy="2358658"/>
          </a:xfrm>
        </p:spPr>
        <p:txBody>
          <a:bodyPr>
            <a:normAutofit/>
          </a:bodyPr>
          <a:lstStyle/>
          <a:p>
            <a:r>
              <a:rPr lang="es-CL" sz="7200" b="1" noProof="0" dirty="0">
                <a:solidFill>
                  <a:srgbClr val="00B050"/>
                </a:solidFill>
                <a:latin typeface="Congenial" panose="02000503040000020004" pitchFamily="2" charset="0"/>
              </a:rPr>
              <a:t>Estudio Ambiental</a:t>
            </a:r>
          </a:p>
        </p:txBody>
      </p:sp>
      <p:sp>
        <p:nvSpPr>
          <p:cNvPr id="4" name="Círculo: vacío 3">
            <a:extLst>
              <a:ext uri="{FF2B5EF4-FFF2-40B4-BE49-F238E27FC236}">
                <a16:creationId xmlns:a16="http://schemas.microsoft.com/office/drawing/2014/main" id="{226E72F5-AA7C-E21B-8516-97CC4D7C9BBE}"/>
              </a:ext>
            </a:extLst>
          </p:cNvPr>
          <p:cNvSpPr/>
          <p:nvPr/>
        </p:nvSpPr>
        <p:spPr>
          <a:xfrm>
            <a:off x="9024436" y="3825433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írculo: vacío 5">
            <a:extLst>
              <a:ext uri="{FF2B5EF4-FFF2-40B4-BE49-F238E27FC236}">
                <a16:creationId xmlns:a16="http://schemas.microsoft.com/office/drawing/2014/main" id="{1A31C1CB-A935-A594-DFE1-2EBA716CE38E}"/>
              </a:ext>
            </a:extLst>
          </p:cNvPr>
          <p:cNvSpPr/>
          <p:nvPr/>
        </p:nvSpPr>
        <p:spPr>
          <a:xfrm>
            <a:off x="10740102" y="2249144"/>
            <a:ext cx="3906118" cy="3829736"/>
          </a:xfrm>
          <a:prstGeom prst="donu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Círculo: vacío 7">
            <a:extLst>
              <a:ext uri="{FF2B5EF4-FFF2-40B4-BE49-F238E27FC236}">
                <a16:creationId xmlns:a16="http://schemas.microsoft.com/office/drawing/2014/main" id="{21FDE2E2-F7F8-1735-EF96-297F84032367}"/>
              </a:ext>
            </a:extLst>
          </p:cNvPr>
          <p:cNvSpPr/>
          <p:nvPr/>
        </p:nvSpPr>
        <p:spPr>
          <a:xfrm>
            <a:off x="-3378579" y="4164012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732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614668"/>
            <a:ext cx="3388137" cy="4671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3200" y="1614668"/>
            <a:ext cx="3388137" cy="4671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400" y="1614668"/>
            <a:ext cx="3388137" cy="467183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952500" y="2075021"/>
            <a:ext cx="291364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Outfit SemiBold"/>
                <a:cs typeface="Outfit SemiBold"/>
                <a:sym typeface="Outfit SemiBold"/>
              </a:rPr>
              <a:t>Ley 19.300</a:t>
            </a:r>
            <a:endParaRPr lang="es-CL" sz="3200" b="1" noProof="0" dirty="0">
              <a:solidFill>
                <a:srgbClr val="1DB954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1093762" y="2871968"/>
            <a:ext cx="2774900" cy="290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Bases Generales del Medio Ambiente:</a:t>
            </a: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 Disminución drástica de la huella ecológica dada la reducción de residuos químicos peligrosos en laboratorios.</a:t>
            </a:r>
            <a:endParaRPr lang="es-CL" sz="28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4603700" y="2075021"/>
            <a:ext cx="291364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Outfit SemiBold"/>
                <a:cs typeface="Outfit SemiBold"/>
                <a:sym typeface="Outfit SemiBold"/>
              </a:rPr>
              <a:t>Ley 20.422</a:t>
            </a:r>
            <a:endParaRPr lang="es-CL" sz="3200" b="1" noProof="0" dirty="0">
              <a:solidFill>
                <a:srgbClr val="1DB954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4744962" y="2871968"/>
            <a:ext cx="2774900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Inclusión de Personas con Discapacidad:</a:t>
            </a: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 Cumplimiento estricto de la Accesibilidad Universal mediante mobiliario virtual con alturas y configuraciones regulables.</a:t>
            </a:r>
            <a:endParaRPr lang="es-CL" sz="28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8254900" y="2075021"/>
            <a:ext cx="338813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Outfit SemiBold"/>
                <a:cs typeface="Outfit SemiBold"/>
                <a:sym typeface="Outfit SemiBold"/>
              </a:rPr>
              <a:t>Sustentabilidad</a:t>
            </a:r>
            <a:endParaRPr lang="es-CL" sz="3200" b="1" noProof="0" dirty="0">
              <a:solidFill>
                <a:srgbClr val="1DB954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8396162" y="2871968"/>
            <a:ext cx="2774900" cy="290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Impacto de Infraestructura:</a:t>
            </a: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 Mitigación de daños físicos en instalaciones críticas y un sustancial ahorro en la reposición de material de vidrio.</a:t>
            </a:r>
            <a:endParaRPr lang="es-CL" sz="28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952500" y="571500"/>
            <a:ext cx="110013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0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Outfit Medium"/>
                <a:cs typeface="Outfit Medium"/>
                <a:sym typeface="Outfit Medium"/>
              </a:rPr>
              <a:t>Estudio Ambiental y Normativa Legal</a:t>
            </a:r>
            <a:endParaRPr lang="es-CL" sz="3200" noProof="0" dirty="0">
              <a:solidFill>
                <a:srgbClr val="1DB954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8AC60B8-48D2-7483-8818-0A7C223EF8F9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Roberto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34;p15">
            <a:extLst>
              <a:ext uri="{FF2B5EF4-FFF2-40B4-BE49-F238E27FC236}">
                <a16:creationId xmlns:a16="http://schemas.microsoft.com/office/drawing/2014/main" id="{97B1FE17-642B-A205-163F-49DDBA1E0A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614668"/>
            <a:ext cx="3388137" cy="4759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5;p15">
            <a:extLst>
              <a:ext uri="{FF2B5EF4-FFF2-40B4-BE49-F238E27FC236}">
                <a16:creationId xmlns:a16="http://schemas.microsoft.com/office/drawing/2014/main" id="{9CDC4A8B-9835-3155-6008-543D46860D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3200" y="1614668"/>
            <a:ext cx="3388137" cy="4759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6;p15">
            <a:extLst>
              <a:ext uri="{FF2B5EF4-FFF2-40B4-BE49-F238E27FC236}">
                <a16:creationId xmlns:a16="http://schemas.microsoft.com/office/drawing/2014/main" id="{032A0292-28AB-DDD3-FD23-E05BD733FF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400" y="1614668"/>
            <a:ext cx="3388137" cy="475966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952500" y="571500"/>
            <a:ext cx="54006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Outfit Medium"/>
                <a:cs typeface="Outfit Medium"/>
                <a:sym typeface="Outfit Medium"/>
              </a:rPr>
              <a:t>Ciclo de Vida y Residuos</a:t>
            </a:r>
            <a:endParaRPr lang="es-CL" sz="1800" b="1" noProof="0" dirty="0">
              <a:solidFill>
                <a:srgbClr val="1DB954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962467" y="1783321"/>
            <a:ext cx="2987202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Ley 20.920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Ley REP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2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ea typeface="Inter"/>
              <a:cs typeface="Inter"/>
              <a:sym typeface="Inter SemiBold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Responsabilidad Extendida del Productor enfocada en la gestión de hardware de visores Meta Quest 2.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4588213" y="1783321"/>
            <a:ext cx="3015574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Plan de Manejo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200" b="0" i="0" u="none" strike="noStrike" cap="none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ea typeface="Inter SemiBold"/>
              <a:cs typeface="Inter SemiBold"/>
              <a:sym typeface="Inter SemiBold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Disposición ambientalmente segura de baterías de litio, pantallas y carcasas plásticas a través de Sistemas de Gestión autorizados.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8171118" y="1783321"/>
            <a:ext cx="3174699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Impacto Ecológico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200" b="0" i="0" u="none" strike="noStrike" cap="none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 Medidas proactivas para prevenir que el equipamiento tecnológico obsoleto se convierta en chatarra electrónica o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e-</a:t>
            </a:r>
            <a:r>
              <a:rPr lang="es-CL" sz="2000" b="0" i="0" u="none" strike="noStrike" cap="none" noProof="0" dirty="0" err="1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waste</a:t>
            </a:r>
            <a:r>
              <a:rPr lang="es-CL" sz="12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.</a:t>
            </a:r>
            <a:endParaRPr lang="es-CL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C3EC8D8-BC0C-F115-2711-FB1F3DBCC7FC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Roberto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C6942-2C16-09FC-2D36-FF4D49913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377" y="2249671"/>
            <a:ext cx="9091246" cy="2358658"/>
          </a:xfrm>
        </p:spPr>
        <p:txBody>
          <a:bodyPr>
            <a:normAutofit/>
          </a:bodyPr>
          <a:lstStyle/>
          <a:p>
            <a:r>
              <a:rPr lang="es-CL" sz="7200" b="1" noProof="0" dirty="0">
                <a:solidFill>
                  <a:srgbClr val="00B050"/>
                </a:solidFill>
                <a:latin typeface="Congenial" panose="02000503040000020004" pitchFamily="2" charset="0"/>
              </a:rPr>
              <a:t>Estudio de Mercado</a:t>
            </a:r>
          </a:p>
        </p:txBody>
      </p:sp>
      <p:sp>
        <p:nvSpPr>
          <p:cNvPr id="4" name="Círculo: vacío 3">
            <a:extLst>
              <a:ext uri="{FF2B5EF4-FFF2-40B4-BE49-F238E27FC236}">
                <a16:creationId xmlns:a16="http://schemas.microsoft.com/office/drawing/2014/main" id="{3F5F5A18-EDEE-98A0-E82F-1A93791D2EBB}"/>
              </a:ext>
            </a:extLst>
          </p:cNvPr>
          <p:cNvSpPr/>
          <p:nvPr/>
        </p:nvSpPr>
        <p:spPr>
          <a:xfrm>
            <a:off x="9024436" y="3825433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írculo: vacío 5">
            <a:extLst>
              <a:ext uri="{FF2B5EF4-FFF2-40B4-BE49-F238E27FC236}">
                <a16:creationId xmlns:a16="http://schemas.microsoft.com/office/drawing/2014/main" id="{36C3FB73-CDC7-BD46-A606-D1B1AA6F8F58}"/>
              </a:ext>
            </a:extLst>
          </p:cNvPr>
          <p:cNvSpPr/>
          <p:nvPr/>
        </p:nvSpPr>
        <p:spPr>
          <a:xfrm>
            <a:off x="10740102" y="2249144"/>
            <a:ext cx="3906118" cy="3829736"/>
          </a:xfrm>
          <a:prstGeom prst="donu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Círculo: vacío 7">
            <a:extLst>
              <a:ext uri="{FF2B5EF4-FFF2-40B4-BE49-F238E27FC236}">
                <a16:creationId xmlns:a16="http://schemas.microsoft.com/office/drawing/2014/main" id="{69BF143F-DEA4-020C-6602-4034D0F0BA81}"/>
              </a:ext>
            </a:extLst>
          </p:cNvPr>
          <p:cNvSpPr/>
          <p:nvPr/>
        </p:nvSpPr>
        <p:spPr>
          <a:xfrm>
            <a:off x="-3378579" y="4164012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717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34;p15">
            <a:extLst>
              <a:ext uri="{FF2B5EF4-FFF2-40B4-BE49-F238E27FC236}">
                <a16:creationId xmlns:a16="http://schemas.microsoft.com/office/drawing/2014/main" id="{515CF269-5F5D-D235-2049-CE943F38DB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205" y="1288073"/>
            <a:ext cx="5399771" cy="2558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34;p15">
            <a:extLst>
              <a:ext uri="{FF2B5EF4-FFF2-40B4-BE49-F238E27FC236}">
                <a16:creationId xmlns:a16="http://schemas.microsoft.com/office/drawing/2014/main" id="{493A9072-BF27-FD22-2217-E27292ED7F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7767" y="4025604"/>
            <a:ext cx="5541560" cy="236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4;p15">
            <a:extLst>
              <a:ext uri="{FF2B5EF4-FFF2-40B4-BE49-F238E27FC236}">
                <a16:creationId xmlns:a16="http://schemas.microsoft.com/office/drawing/2014/main" id="{64C9FB9D-5557-0EDE-72F0-90B4A657E9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205" y="4025604"/>
            <a:ext cx="5399771" cy="236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4;p15">
            <a:extLst>
              <a:ext uri="{FF2B5EF4-FFF2-40B4-BE49-F238E27FC236}">
                <a16:creationId xmlns:a16="http://schemas.microsoft.com/office/drawing/2014/main" id="{7273BAC4-AAE1-D57D-745C-D70257D3B2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7767" y="1288074"/>
            <a:ext cx="5541560" cy="255893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6741287" y="4122331"/>
            <a:ext cx="4721507" cy="1674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Mercado Inicial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Facultades de ciencias de la Universidad Andrés Bello, sede Viña del Mar.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741288" y="1440812"/>
            <a:ext cx="4721507" cy="231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Demanda Comprobada</a:t>
            </a:r>
          </a:p>
          <a:p>
            <a:pPr lvl="0" algn="ctr">
              <a:lnSpc>
                <a:spcPct val="160000"/>
              </a:lnSpc>
            </a:pPr>
            <a:r>
              <a:rPr lang="es-CL" sz="2400" b="1" noProof="0" dirty="0">
                <a:solidFill>
                  <a:srgbClr val="92D050"/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3.772 estudiantes</a:t>
            </a:r>
          </a:p>
          <a:p>
            <a:pPr lvl="0" algn="ctr">
              <a:lnSpc>
                <a:spcPct val="160000"/>
              </a:lnSpc>
            </a:pPr>
            <a:r>
              <a:rPr lang="es-CL" sz="1800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 </a:t>
            </a: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Un universo activo de en carreras científicas</a:t>
            </a:r>
            <a:r>
              <a:rPr lang="es-CL" sz="20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.</a:t>
            </a:r>
            <a:endParaRPr lang="es-CL" sz="24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186524" y="1484165"/>
            <a:ext cx="4674785" cy="211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Perfil de Cliente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Instituciones de Educación Superior enfocadas en optimizar costos operativos de reactivos y reposición de materiales.</a:t>
            </a:r>
            <a:endParaRPr lang="es-CL" sz="18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147642" y="4122331"/>
            <a:ext cx="4562895" cy="211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Diferenciador Inclusivo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Acceso garantizado a laboratorios adaptados para estudiantes con movilidad reducida.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952500" y="571500"/>
            <a:ext cx="110013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Outfit Medium"/>
                <a:cs typeface="Outfit Medium"/>
                <a:sym typeface="Outfit Medium"/>
              </a:rPr>
              <a:t>Mercado Objetivo y Demanda</a:t>
            </a:r>
            <a:endParaRPr lang="es-CL" sz="3200" b="1" noProof="0" dirty="0">
              <a:solidFill>
                <a:srgbClr val="1DB954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3F29CF-3D4C-B3E2-AEA7-26487B7ED004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Roberto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05;p14">
            <a:extLst>
              <a:ext uri="{FF2B5EF4-FFF2-40B4-BE49-F238E27FC236}">
                <a16:creationId xmlns:a16="http://schemas.microsoft.com/office/drawing/2014/main" id="{A08F1935-262C-2093-4FE0-E08CADE4FA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6484" y="1516239"/>
            <a:ext cx="6648256" cy="2134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507" y="1516240"/>
            <a:ext cx="4054002" cy="46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2604" y="4343660"/>
            <a:ext cx="1963297" cy="175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2171" y="4343660"/>
            <a:ext cx="1963297" cy="175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31443" y="4343660"/>
            <a:ext cx="1963297" cy="1759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1068602" y="1970521"/>
            <a:ext cx="329565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Outfit"/>
                <a:cs typeface="Outfit"/>
                <a:sym typeface="Outfit"/>
              </a:rPr>
              <a:t>91,2%</a:t>
            </a:r>
            <a:endParaRPr lang="es-CL" sz="2000" noProof="0" dirty="0">
              <a:solidFill>
                <a:srgbClr val="00B050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1025683" y="3329604"/>
            <a:ext cx="329565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noProof="0" dirty="0">
                <a:solidFill>
                  <a:srgbClr val="92D050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A</a:t>
            </a:r>
            <a:r>
              <a:rPr lang="es-CL" sz="3200" b="0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probación NPS</a:t>
            </a:r>
            <a:endParaRPr lang="es-CL" sz="3600" noProof="0" dirty="0">
              <a:solidFill>
                <a:srgbClr val="92D050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1068602" y="4343660"/>
            <a:ext cx="3334196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De satisfacción y usabilidad de la herramienta virtual por parte de los estudiantes evaluados.</a:t>
            </a:r>
            <a:endParaRPr lang="es-CL" sz="36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5122604" y="3790606"/>
            <a:ext cx="642080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Outfit SemiBold"/>
                <a:cs typeface="Outfit SemiBold"/>
                <a:sym typeface="Outfit SemiBold"/>
              </a:rPr>
              <a:t>ESTRUCTURA DE TARIFAS</a:t>
            </a:r>
            <a:endParaRPr lang="es-CL" sz="3200" b="1" noProof="0" dirty="0">
              <a:solidFill>
                <a:srgbClr val="00B050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5193215" y="1463537"/>
            <a:ext cx="6428829" cy="2166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Inter SemiBold"/>
                <a:cs typeface="Inter SemiBold"/>
                <a:sym typeface="Inter SemiBold"/>
              </a:rPr>
              <a:t>Ventaja Competitiva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Entorno inmersivo con físicas e interacciones realistas frente a la competencia, como </a:t>
            </a:r>
            <a:r>
              <a:rPr lang="es-CL" sz="2000" b="0" i="0" u="none" strike="noStrike" cap="none" noProof="0" dirty="0" err="1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Labster</a:t>
            </a:r>
            <a:r>
              <a:rPr lang="es-CL" sz="2000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, que se </a:t>
            </a:r>
            <a:r>
              <a:rPr lang="es-CL" sz="20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 basa en teclado y ratón.</a:t>
            </a:r>
            <a:endParaRPr lang="es-CL" sz="24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5127084" y="4543684"/>
            <a:ext cx="194346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Outfit"/>
                <a:cs typeface="Outfit"/>
                <a:sym typeface="Outfit"/>
              </a:rPr>
              <a:t>SUSCRIPCIÓN ANUAL</a:t>
            </a:r>
            <a:endParaRPr lang="es-CL" sz="2400" noProof="0" dirty="0">
              <a:solidFill>
                <a:srgbClr val="00B050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5173355" y="5025350"/>
            <a:ext cx="185091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Outfit"/>
                <a:cs typeface="Outfit"/>
                <a:sym typeface="Outfit"/>
              </a:rPr>
              <a:t>$500k</a:t>
            </a:r>
            <a:endParaRPr lang="es-CL" sz="2000" noProof="0" dirty="0">
              <a:solidFill>
                <a:srgbClr val="92D050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5173356" y="5517793"/>
            <a:ext cx="185091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CLP / Institución</a:t>
            </a:r>
            <a:endParaRPr lang="es-CL" sz="32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7416524" y="4542137"/>
            <a:ext cx="194365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Outfit"/>
                <a:cs typeface="Outfit"/>
                <a:sym typeface="Outfit"/>
              </a:rPr>
              <a:t>CUENTA DE USUARIO</a:t>
            </a:r>
            <a:endParaRPr lang="es-CL" sz="2400" noProof="0" dirty="0">
              <a:solidFill>
                <a:srgbClr val="00B050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7431876" y="5050065"/>
            <a:ext cx="185110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Outfit"/>
                <a:cs typeface="Outfit"/>
                <a:sym typeface="Outfit"/>
              </a:rPr>
              <a:t>$30k</a:t>
            </a:r>
            <a:endParaRPr lang="es-CL" sz="2000" noProof="0" dirty="0">
              <a:solidFill>
                <a:srgbClr val="92D050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7460903" y="5565153"/>
            <a:ext cx="18511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CLP / Estudiante</a:t>
            </a:r>
            <a:endParaRPr lang="es-CL" sz="32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9751083" y="4542137"/>
            <a:ext cx="194365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Outfit"/>
                <a:cs typeface="Outfit"/>
                <a:sym typeface="Outfit"/>
              </a:rPr>
              <a:t>PACK</a:t>
            </a:r>
            <a:r>
              <a:rPr lang="es-CL" sz="1600" b="1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Outfit"/>
                <a:cs typeface="Outfit"/>
                <a:sym typeface="Outfit"/>
              </a:rPr>
              <a:t> </a:t>
            </a:r>
            <a:r>
              <a:rPr lang="es-CL" sz="16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Outfit"/>
                <a:cs typeface="Outfit"/>
                <a:sym typeface="Outfit"/>
              </a:rPr>
              <a:t>QUÍMICO</a:t>
            </a:r>
            <a:endParaRPr lang="es-CL" sz="2400" noProof="0" dirty="0">
              <a:solidFill>
                <a:srgbClr val="00B050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9770943" y="5050065"/>
            <a:ext cx="185110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Outfit"/>
                <a:cs typeface="Outfit"/>
                <a:sym typeface="Outfit"/>
              </a:rPr>
              <a:t>$250k</a:t>
            </a:r>
            <a:endParaRPr lang="es-CL" sz="2000" noProof="0" dirty="0">
              <a:solidFill>
                <a:srgbClr val="92D050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9751083" y="5565153"/>
            <a:ext cx="18511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Inter"/>
                <a:cs typeface="Inter"/>
                <a:sym typeface="Inter"/>
              </a:rPr>
              <a:t>CLP / Adicional</a:t>
            </a:r>
            <a:endParaRPr lang="es-CL" sz="32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952500" y="571500"/>
            <a:ext cx="110013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Outfit Medium"/>
                <a:cs typeface="Outfit Medium"/>
                <a:sym typeface="Outfit Medium"/>
              </a:rPr>
              <a:t>Propuesta de Valor y Modelo Comercial</a:t>
            </a:r>
            <a:endParaRPr lang="es-CL" sz="1600" b="1" noProof="0" dirty="0">
              <a:solidFill>
                <a:srgbClr val="00B050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82EBF91-8048-BC67-716D-BA91D8B751AD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Roberto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6B151-9E40-5155-24F7-7A7E557EC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72DEEA-8554-006E-58B7-2CA8C14DF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377" y="2249671"/>
            <a:ext cx="9091246" cy="2358658"/>
          </a:xfrm>
        </p:spPr>
        <p:txBody>
          <a:bodyPr>
            <a:normAutofit/>
          </a:bodyPr>
          <a:lstStyle/>
          <a:p>
            <a:r>
              <a:rPr lang="es-CL" sz="7200" b="1" noProof="0" dirty="0">
                <a:solidFill>
                  <a:srgbClr val="00B050"/>
                </a:solidFill>
                <a:latin typeface="Congenial" panose="02000503040000020004" pitchFamily="2" charset="0"/>
              </a:rPr>
              <a:t>Estudio Técnico</a:t>
            </a:r>
          </a:p>
        </p:txBody>
      </p:sp>
      <p:sp>
        <p:nvSpPr>
          <p:cNvPr id="4" name="Círculo: vacío 3">
            <a:extLst>
              <a:ext uri="{FF2B5EF4-FFF2-40B4-BE49-F238E27FC236}">
                <a16:creationId xmlns:a16="http://schemas.microsoft.com/office/drawing/2014/main" id="{50B23EB3-D823-7855-5F45-B2AAFC36D29D}"/>
              </a:ext>
            </a:extLst>
          </p:cNvPr>
          <p:cNvSpPr/>
          <p:nvPr/>
        </p:nvSpPr>
        <p:spPr>
          <a:xfrm>
            <a:off x="9024436" y="3825433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írculo: vacío 5">
            <a:extLst>
              <a:ext uri="{FF2B5EF4-FFF2-40B4-BE49-F238E27FC236}">
                <a16:creationId xmlns:a16="http://schemas.microsoft.com/office/drawing/2014/main" id="{661AFD85-3E81-5B74-A12E-85AC86EAF4DE}"/>
              </a:ext>
            </a:extLst>
          </p:cNvPr>
          <p:cNvSpPr/>
          <p:nvPr/>
        </p:nvSpPr>
        <p:spPr>
          <a:xfrm>
            <a:off x="10740102" y="2249144"/>
            <a:ext cx="3906118" cy="3829736"/>
          </a:xfrm>
          <a:prstGeom prst="donu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Círculo: vacío 7">
            <a:extLst>
              <a:ext uri="{FF2B5EF4-FFF2-40B4-BE49-F238E27FC236}">
                <a16:creationId xmlns:a16="http://schemas.microsoft.com/office/drawing/2014/main" id="{7B0EDBA0-1618-BD15-4E69-5F8EF6C7500D}"/>
              </a:ext>
            </a:extLst>
          </p:cNvPr>
          <p:cNvSpPr/>
          <p:nvPr/>
        </p:nvSpPr>
        <p:spPr>
          <a:xfrm>
            <a:off x="-3378579" y="4164012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338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71500" y="1952625"/>
            <a:ext cx="3274218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186534" y="1952624"/>
            <a:ext cx="3929062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346281" y="1952625"/>
            <a:ext cx="3274218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319712" y="2600325"/>
            <a:ext cx="155257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253037" y="3352800"/>
            <a:ext cx="168592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200650" y="4105275"/>
            <a:ext cx="17907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8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334000" y="4857750"/>
            <a:ext cx="15240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262562" y="5610225"/>
            <a:ext cx="1666875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749677" y="2200275"/>
            <a:ext cx="291786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1DBD55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MODELO DE NEGOCIO</a:t>
            </a:r>
            <a:endParaRPr lang="es-CL" sz="2000" noProof="0" dirty="0">
              <a:solidFill>
                <a:srgbClr val="1DBD55"/>
              </a:solidFill>
              <a:latin typeface="Congenial" panose="02000503040000020004" pitchFamily="2" charset="0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4207550" y="2175392"/>
            <a:ext cx="36054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1DBD55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FLUJO OPERACIONAL SCRUM</a:t>
            </a:r>
            <a:endParaRPr lang="es-CL" sz="2000" noProof="0" dirty="0">
              <a:solidFill>
                <a:srgbClr val="1DBD55"/>
              </a:solidFill>
              <a:latin typeface="Congenial" panose="02000503040000020004" pitchFamily="2" charset="0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8524458" y="2200275"/>
            <a:ext cx="291786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1DBD55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EQUIPO DE TRABAJO</a:t>
            </a:r>
            <a:endParaRPr lang="es-CL" sz="2000" noProof="0" dirty="0">
              <a:solidFill>
                <a:srgbClr val="1DBD55"/>
              </a:solidFill>
              <a:latin typeface="Congenial" panose="02000503040000020004" pitchFamily="2" charset="0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9070774" y="2647413"/>
            <a:ext cx="2523530" cy="360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4 Programadores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b="0" i="0" u="none" strike="noStrike" cap="none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ea typeface="Urbanist"/>
              <a:cs typeface="Urbanist"/>
              <a:sym typeface="Urbanist"/>
            </a:endParaRPr>
          </a:p>
          <a:p>
            <a:pPr lvl="0"/>
            <a:endParaRPr lang="es-CL" sz="20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ea typeface="Urbanist"/>
              <a:cs typeface="Urbanist"/>
              <a:sym typeface="Urbanist"/>
            </a:endParaRPr>
          </a:p>
          <a:p>
            <a:pPr lvl="0"/>
            <a:r>
              <a:rPr lang="es-CL" sz="2000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2 Modeladores 3D</a:t>
            </a:r>
          </a:p>
          <a:p>
            <a:pPr lvl="0"/>
            <a:endParaRPr lang="es-CL" sz="20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ea typeface="Urbanist"/>
              <a:cs typeface="Urbanist"/>
              <a:sym typeface="Urbanist"/>
            </a:endParaRPr>
          </a:p>
          <a:p>
            <a:pPr lvl="0"/>
            <a:endParaRPr lang="es-CL" sz="20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ea typeface="Urbanist"/>
              <a:cs typeface="Urbanist"/>
              <a:sym typeface="Urbanist"/>
            </a:endParaRPr>
          </a:p>
          <a:p>
            <a:pPr lvl="0"/>
            <a:r>
              <a:rPr lang="es-CL" sz="2000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1 </a:t>
            </a:r>
            <a:r>
              <a:rPr lang="es-CL" sz="2000" noProof="0" dirty="0" err="1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Testedor</a:t>
            </a:r>
            <a:r>
              <a:rPr lang="es-CL" sz="2000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 QA</a:t>
            </a:r>
          </a:p>
          <a:p>
            <a:endParaRPr lang="es-CL" sz="20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ea typeface="Urbanist"/>
              <a:cs typeface="Urbanist"/>
              <a:sym typeface="Urbanist"/>
            </a:endParaRPr>
          </a:p>
          <a:p>
            <a:endParaRPr lang="es-CL" sz="20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ea typeface="Urbanist"/>
              <a:cs typeface="Urbanist"/>
              <a:sym typeface="Urbanist"/>
            </a:endParaRPr>
          </a:p>
          <a:p>
            <a:r>
              <a:rPr lang="es-CL" sz="2000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1 Encargado de Proyecto</a:t>
            </a:r>
            <a:endParaRPr lang="es-CL" sz="20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pic>
        <p:nvPicPr>
          <p:cNvPr id="111" name="Google Shape;111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09441" y="2735108"/>
            <a:ext cx="532130" cy="376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/>
        </p:nvSpPr>
        <p:spPr>
          <a:xfrm>
            <a:off x="1374896" y="2617341"/>
            <a:ext cx="23241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Suscripción: </a:t>
            </a:r>
            <a:r>
              <a:rPr lang="es-CL" sz="2200" b="1" i="0" u="none" strike="noStrike" cap="none" noProof="0" dirty="0">
                <a:solidFill>
                  <a:srgbClr val="A3E635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$500.000/año</a:t>
            </a:r>
            <a:endParaRPr lang="es-CL" sz="2200" noProof="0" dirty="0">
              <a:latin typeface="Congenial" panose="02000503040000020004" pitchFamily="2" charset="0"/>
            </a:endParaRPr>
          </a:p>
        </p:txBody>
      </p:sp>
      <p:pic>
        <p:nvPicPr>
          <p:cNvPr id="113" name="Google Shape;113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1623" y="3868964"/>
            <a:ext cx="489346" cy="395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/>
        </p:nvSpPr>
        <p:spPr>
          <a:xfrm>
            <a:off x="1374896" y="3685987"/>
            <a:ext cx="23241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Usuario: </a:t>
            </a:r>
            <a:r>
              <a:rPr lang="es-CL" sz="2200" b="1" i="0" u="none" strike="noStrike" cap="none" noProof="0" dirty="0">
                <a:solidFill>
                  <a:srgbClr val="A3E635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$30.000/año</a:t>
            </a:r>
            <a:endParaRPr lang="es-CL" sz="2200" noProof="0" dirty="0">
              <a:latin typeface="Congenial" panose="02000503040000020004" pitchFamily="2" charset="0"/>
            </a:endParaRPr>
          </a:p>
        </p:txBody>
      </p:sp>
      <p:pic>
        <p:nvPicPr>
          <p:cNvPr id="115" name="Google Shape;115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7729" y="4871724"/>
            <a:ext cx="532130" cy="39660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 txBox="1"/>
          <p:nvPr/>
        </p:nvSpPr>
        <p:spPr>
          <a:xfrm>
            <a:off x="1390968" y="4754116"/>
            <a:ext cx="2454749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CL" sz="22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Paquete Químico: </a:t>
            </a:r>
            <a:r>
              <a:rPr lang="es-CL" sz="2200" b="1" noProof="0" dirty="0">
                <a:solidFill>
                  <a:srgbClr val="92D050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$250.000/año</a:t>
            </a:r>
            <a:endParaRPr lang="es-CL" sz="2200" noProof="0" dirty="0">
              <a:solidFill>
                <a:srgbClr val="92D050"/>
              </a:solidFill>
              <a:latin typeface="Congenial" panose="02000503040000020004" pitchFamily="2" charset="0"/>
            </a:endParaRPr>
          </a:p>
        </p:txBody>
      </p:sp>
      <p:pic>
        <p:nvPicPr>
          <p:cNvPr id="119" name="Google Shape;119;p13" descr="image.png"/>
          <p:cNvPicPr preferRelativeResize="0"/>
          <p:nvPr/>
        </p:nvPicPr>
        <p:blipFill rotWithShape="1">
          <a:blip r:embed="rId13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010275" y="308610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 descr="image.png"/>
          <p:cNvPicPr preferRelativeResize="0"/>
          <p:nvPr/>
        </p:nvPicPr>
        <p:blipFill rotWithShape="1">
          <a:blip r:embed="rId13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010275" y="383857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3" descr="image.png"/>
          <p:cNvPicPr preferRelativeResize="0"/>
          <p:nvPr/>
        </p:nvPicPr>
        <p:blipFill rotWithShape="1">
          <a:blip r:embed="rId13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010275" y="459105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 descr="image.png"/>
          <p:cNvPicPr preferRelativeResize="0"/>
          <p:nvPr/>
        </p:nvPicPr>
        <p:blipFill rotWithShape="1">
          <a:blip r:embed="rId13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010275" y="534352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547498" y="2617232"/>
            <a:ext cx="526257" cy="351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547497" y="3503056"/>
            <a:ext cx="526257" cy="351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542140" y="4453850"/>
            <a:ext cx="526257" cy="351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3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607027" y="5434280"/>
            <a:ext cx="526257" cy="35188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1DBD55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ARQUITECTURA OPERACIONAL DE 3DLAB</a:t>
            </a:r>
            <a:endParaRPr lang="es-CL" noProof="0" dirty="0">
              <a:solidFill>
                <a:srgbClr val="1DBD55"/>
              </a:solidFill>
              <a:latin typeface="Congenial" panose="02000503040000020004" pitchFamily="2" charset="0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792954" y="1180554"/>
            <a:ext cx="108013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Plataforma educativa altamente inmersiva para la enseñanza práctica de la química, capaz de recrear fielmente el entorno de un laboratorio</a:t>
            </a:r>
            <a:endParaRPr lang="es-CL" sz="16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A6B8401-A628-CFFB-B290-7B5147CC6BBA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Celso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4322066E-25F5-582F-B4A6-00E720B00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>
            <a:extLst>
              <a:ext uri="{FF2B5EF4-FFF2-40B4-BE49-F238E27FC236}">
                <a16:creationId xmlns:a16="http://schemas.microsoft.com/office/drawing/2014/main" id="{E2E63160-AD52-B21E-73DE-0D576FB17770}"/>
              </a:ext>
            </a:extLst>
          </p:cNvPr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dirty="0">
                <a:solidFill>
                  <a:srgbClr val="1DBD55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Lo que necesitamos</a:t>
            </a:r>
            <a:endParaRPr lang="es-CL" noProof="0" dirty="0">
              <a:solidFill>
                <a:srgbClr val="1DBD55"/>
              </a:solidFill>
              <a:latin typeface="Congenial" panose="02000503040000020004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0521A7-C887-3804-EB3F-1BE1CD6F7D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88051" y="1057275"/>
            <a:ext cx="8015898" cy="544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3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DCC52AA0-A098-E111-8188-7459A518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>
            <a:extLst>
              <a:ext uri="{FF2B5EF4-FFF2-40B4-BE49-F238E27FC236}">
                <a16:creationId xmlns:a16="http://schemas.microsoft.com/office/drawing/2014/main" id="{D50CE31C-56BA-A851-06BD-9D68178B4B87}"/>
              </a:ext>
            </a:extLst>
          </p:cNvPr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dirty="0">
                <a:solidFill>
                  <a:srgbClr val="1DBD55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Lo que necesitamos</a:t>
            </a:r>
            <a:endParaRPr lang="es-CL" noProof="0" dirty="0">
              <a:solidFill>
                <a:srgbClr val="1DBD55"/>
              </a:solidFill>
              <a:latin typeface="Congenial" panose="02000503040000020004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6B1C87-BAD0-E9A7-F8D6-AAC532FA9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228" y="1283481"/>
            <a:ext cx="5771301" cy="31641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F573F92-3151-CDE0-98CE-13492352ED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03"/>
          <a:stretch>
            <a:fillRect/>
          </a:stretch>
        </p:blipFill>
        <p:spPr>
          <a:xfrm>
            <a:off x="313558" y="1283481"/>
            <a:ext cx="5782442" cy="459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56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39;p14" descr="image.png">
            <a:extLst>
              <a:ext uri="{FF2B5EF4-FFF2-40B4-BE49-F238E27FC236}">
                <a16:creationId xmlns:a16="http://schemas.microsoft.com/office/drawing/2014/main" id="{342989F2-30B1-4CFC-96B5-C5DD1DC3B2AC}"/>
              </a:ext>
            </a:extLst>
          </p:cNvPr>
          <p:cNvPicPr preferRelativeResize="0"/>
          <p:nvPr/>
        </p:nvPicPr>
        <p:blipFill rotWithShape="1">
          <a:blip r:embed="rId3">
            <a:alphaModFix/>
            <a:grayscl/>
          </a:blip>
          <a:srcRect/>
          <a:stretch/>
        </p:blipFill>
        <p:spPr>
          <a:xfrm>
            <a:off x="6934794" y="1877447"/>
            <a:ext cx="5104806" cy="3347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4" descr="image.png"/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701356" y="1877447"/>
            <a:ext cx="2907726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4" descr="image.png"/>
          <p:cNvPicPr preferRelativeResize="0"/>
          <p:nvPr/>
        </p:nvPicPr>
        <p:blipFill rotWithShape="1">
          <a:blip r:embed="rId3">
            <a:alphaModFix/>
            <a:grayscl/>
          </a:blip>
          <a:srcRect/>
          <a:stretch/>
        </p:blipFill>
        <p:spPr>
          <a:xfrm>
            <a:off x="3751916" y="1877447"/>
            <a:ext cx="2993528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76508" y="4876800"/>
            <a:ext cx="2620148" cy="783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98428" y="2886075"/>
            <a:ext cx="2498228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98428" y="3333750"/>
            <a:ext cx="249822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/>
        </p:nvSpPr>
        <p:spPr>
          <a:xfrm>
            <a:off x="571500" y="6008699"/>
            <a:ext cx="11004704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i="1" u="none" strike="noStrike" cap="none" noProof="0" dirty="0">
                <a:solidFill>
                  <a:schemeClr val="bg1">
                    <a:lumMod val="75000"/>
                  </a:schemeClr>
                </a:solidFill>
                <a:latin typeface="Book Antiqua" panose="02040602050305030304" pitchFamily="18" charset="0"/>
                <a:ea typeface="Urbanist"/>
                <a:cs typeface="Urbanist"/>
                <a:sym typeface="Urbanist"/>
              </a:rPr>
              <a:t> "3DLab presenta una estructura técnica viable, escalable y capaz de sostener un crecimiento sostenido durante sus cinco años de operación." </a:t>
            </a:r>
            <a:endParaRPr lang="es-CL" sz="1800" noProof="0" dirty="0">
              <a:solidFill>
                <a:schemeClr val="bg1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954790" y="2176075"/>
            <a:ext cx="227076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 strike="noStrike" cap="none" noProof="0" dirty="0">
                <a:solidFill>
                  <a:srgbClr val="1DBD55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INVERSIÓN INICIAL</a:t>
            </a:r>
            <a:endParaRPr lang="es-CL" sz="1800" noProof="0" dirty="0">
              <a:solidFill>
                <a:srgbClr val="1DBD55"/>
              </a:solidFill>
              <a:latin typeface="Congenial" panose="02000503040000020004" pitchFamily="2" charset="0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954790" y="5105895"/>
            <a:ext cx="23145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 noProof="0" dirty="0">
                <a:solidFill>
                  <a:srgbClr val="1DBD55"/>
                </a:solidFill>
                <a:latin typeface="Congenial" panose="02000503040000020004" pitchFamily="2" charset="0"/>
                <a:ea typeface="Urbanist ExtraBold"/>
                <a:cs typeface="Urbanist ExtraBold"/>
                <a:sym typeface="Urbanist ExtraBold"/>
              </a:rPr>
              <a:t>$</a:t>
            </a:r>
            <a:r>
              <a:rPr lang="es-CL" sz="3200" b="1" i="0" u="none" strike="noStrike" cap="none" noProof="0" dirty="0">
                <a:solidFill>
                  <a:srgbClr val="1DBD55"/>
                </a:solidFill>
                <a:latin typeface="Congenial" panose="02000503040000020004" pitchFamily="2" charset="0"/>
                <a:ea typeface="Urbanist ExtraBold"/>
                <a:cs typeface="Urbanist ExtraBold"/>
                <a:sym typeface="Urbanist ExtraBold"/>
              </a:rPr>
              <a:t>7.350.000</a:t>
            </a:r>
            <a:endParaRPr lang="es-CL" b="1" noProof="0" dirty="0">
              <a:solidFill>
                <a:srgbClr val="1DBD55"/>
              </a:solidFill>
              <a:latin typeface="Congenial" panose="02000503040000020004" pitchFamily="2" charset="0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3798391" y="2191465"/>
            <a:ext cx="289882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 strike="noStrike" cap="none" noProof="0" dirty="0">
                <a:solidFill>
                  <a:srgbClr val="1DBD55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EGRESOS OPERACIONALES</a:t>
            </a:r>
            <a:endParaRPr lang="es-CL" sz="1800" noProof="0" dirty="0">
              <a:solidFill>
                <a:srgbClr val="1DBD55"/>
              </a:solidFill>
              <a:latin typeface="Congenial" panose="02000503040000020004" pitchFamily="2" charset="0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4098428" y="2676525"/>
            <a:ext cx="249822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Costos Operativos </a:t>
            </a:r>
            <a:r>
              <a:rPr lang="es-CL" sz="1200" b="0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$61.32M</a:t>
            </a:r>
            <a:endParaRPr lang="es-CL" sz="1800" noProof="0" dirty="0">
              <a:solidFill>
                <a:srgbClr val="92D050"/>
              </a:solidFill>
              <a:latin typeface="Congenial" panose="02000503040000020004" pitchFamily="2" charset="0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4098428" y="3124200"/>
            <a:ext cx="249822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Gastos Operativos </a:t>
            </a:r>
            <a:r>
              <a:rPr lang="es-CL" sz="1200" b="0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$5.25M</a:t>
            </a:r>
            <a:endParaRPr lang="es-CL" sz="1800" noProof="0" dirty="0">
              <a:solidFill>
                <a:srgbClr val="92D050"/>
              </a:solidFill>
              <a:latin typeface="Congenial" panose="02000503040000020004" pitchFamily="2" charset="0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4098428" y="5003153"/>
            <a:ext cx="2320453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i="0" u="none" strike="noStrike" cap="none" noProof="0" dirty="0">
                <a:solidFill>
                  <a:srgbClr val="94A3B8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TOTAL ANUAL</a:t>
            </a:r>
            <a:endParaRPr lang="es-CL" sz="2000" noProof="0" dirty="0">
              <a:latin typeface="Congenial" panose="02000503040000020004" pitchFamily="2" charset="0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4119382" y="5194174"/>
            <a:ext cx="232045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 strike="noStrike" cap="none" noProof="0" dirty="0">
                <a:solidFill>
                  <a:srgbClr val="F87171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$66.570.000</a:t>
            </a:r>
            <a:endParaRPr lang="es-CL" sz="2000" noProof="0" dirty="0">
              <a:latin typeface="Congenial" panose="02000503040000020004" pitchFamily="2" charset="0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4098428" y="2886075"/>
            <a:ext cx="2298352" cy="952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ongenial" panose="02000503040000020004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4098428" y="3333750"/>
            <a:ext cx="199727" cy="9525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ongenial" panose="02000503040000020004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1DBD55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VIABILIDAD Y ESCALABILIDAD</a:t>
            </a:r>
            <a:endParaRPr lang="es-CL" noProof="0" dirty="0">
              <a:solidFill>
                <a:srgbClr val="1DBD55"/>
              </a:solidFill>
              <a:latin typeface="Congenial" panose="02000503040000020004" pitchFamily="2" charset="0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774854" y="1243905"/>
            <a:ext cx="108013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noProof="0" dirty="0">
                <a:solidFill>
                  <a:srgbClr val="A9A9A9"/>
                </a:solidFill>
                <a:latin typeface="Congenial" panose="02000503040000020004" pitchFamily="2" charset="0"/>
                <a:sym typeface="Urbanist"/>
              </a:rPr>
              <a:t>Análisis financiero y proyección de crecimiento estratégico</a:t>
            </a:r>
            <a:endParaRPr lang="es-CL" sz="2000" noProof="0" dirty="0">
              <a:solidFill>
                <a:srgbClr val="A9A9A9"/>
              </a:solidFill>
              <a:latin typeface="Congenial" panose="02000503040000020004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192EF04-09CF-F2EF-0D5F-A5FBFF82049B}"/>
              </a:ext>
            </a:extLst>
          </p:cNvPr>
          <p:cNvSpPr txBox="1"/>
          <p:nvPr/>
        </p:nvSpPr>
        <p:spPr>
          <a:xfrm>
            <a:off x="954790" y="2835683"/>
            <a:ext cx="26077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CL" sz="1600" noProof="0" dirty="0">
                <a:solidFill>
                  <a:schemeClr val="bg1">
                    <a:lumMod val="85000"/>
                  </a:schemeClr>
                </a:solidFill>
                <a:latin typeface="Congenial" panose="02000503040000020004" pitchFamily="2" charset="0"/>
              </a:rPr>
              <a:t>Computadores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CL" sz="1600" noProof="0" dirty="0">
                <a:solidFill>
                  <a:schemeClr val="bg1">
                    <a:lumMod val="85000"/>
                  </a:schemeClr>
                </a:solidFill>
                <a:latin typeface="Congenial" panose="02000503040000020004" pitchFamily="2" charset="0"/>
              </a:rPr>
              <a:t>Dispositivos VR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CL" sz="1600" noProof="0" dirty="0">
                <a:solidFill>
                  <a:schemeClr val="bg1">
                    <a:lumMod val="85000"/>
                  </a:schemeClr>
                </a:solidFill>
                <a:latin typeface="Congenial" panose="02000503040000020004" pitchFamily="2" charset="0"/>
              </a:rPr>
              <a:t>Periféricos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CL" sz="1600" noProof="0" dirty="0">
                <a:solidFill>
                  <a:schemeClr val="bg1">
                    <a:lumMod val="85000"/>
                  </a:schemeClr>
                </a:solidFill>
                <a:latin typeface="Congenial" panose="02000503040000020004" pitchFamily="2" charset="0"/>
              </a:rPr>
              <a:t>Licencias de Software</a:t>
            </a:r>
          </a:p>
        </p:txBody>
      </p:sp>
      <p:pic>
        <p:nvPicPr>
          <p:cNvPr id="4" name="Google Shape;87;p13" descr="image.png">
            <a:extLst>
              <a:ext uri="{FF2B5EF4-FFF2-40B4-BE49-F238E27FC236}">
                <a16:creationId xmlns:a16="http://schemas.microsoft.com/office/drawing/2014/main" id="{2529CB8F-94BB-EE31-25DE-6DFE5848636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t="2403"/>
          <a:stretch>
            <a:fillRect/>
          </a:stretch>
        </p:blipFill>
        <p:spPr>
          <a:xfrm>
            <a:off x="6934793" y="1962218"/>
            <a:ext cx="5104806" cy="369767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9AB4EDBD-1DB3-C0F7-2D27-F3DA509EF517}"/>
              </a:ext>
            </a:extLst>
          </p:cNvPr>
          <p:cNvSpPr txBox="1"/>
          <p:nvPr/>
        </p:nvSpPr>
        <p:spPr>
          <a:xfrm>
            <a:off x="7078940" y="2166669"/>
            <a:ext cx="458991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i="0" u="none" strike="noStrike" cap="none" noProof="0" dirty="0">
                <a:solidFill>
                  <a:srgbClr val="1DBD55"/>
                </a:solidFill>
                <a:latin typeface="Congenial" panose="02000503040000020004" pitchFamily="2" charset="0"/>
                <a:ea typeface="Lato"/>
                <a:cs typeface="Lato"/>
                <a:sym typeface="Lato"/>
              </a:rPr>
              <a:t>PROYECCIÓN DE INGRESOS</a:t>
            </a:r>
            <a:endParaRPr lang="es-CL" sz="2400" noProof="0" dirty="0">
              <a:solidFill>
                <a:srgbClr val="1DBD55"/>
              </a:solidFill>
              <a:latin typeface="Congenial" panose="02000503040000020004" pitchFamily="2" charset="0"/>
            </a:endParaRPr>
          </a:p>
        </p:txBody>
      </p:sp>
      <p:sp>
        <p:nvSpPr>
          <p:cNvPr id="8" name="Google Shape;99;p13">
            <a:extLst>
              <a:ext uri="{FF2B5EF4-FFF2-40B4-BE49-F238E27FC236}">
                <a16:creationId xmlns:a16="http://schemas.microsoft.com/office/drawing/2014/main" id="{9ED4A369-61AD-92EA-A145-59863E205FFF}"/>
              </a:ext>
            </a:extLst>
          </p:cNvPr>
          <p:cNvSpPr txBox="1"/>
          <p:nvPr/>
        </p:nvSpPr>
        <p:spPr>
          <a:xfrm>
            <a:off x="954790" y="4370952"/>
            <a:ext cx="255954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CL" sz="1600" b="0" i="0" u="none" strike="noStrike" cap="none" noProof="0" dirty="0">
                <a:solidFill>
                  <a:schemeClr val="bg1">
                    <a:lumMod val="85000"/>
                  </a:schemeClr>
                </a:solidFill>
                <a:latin typeface="Congenial" panose="02000503040000020004" pitchFamily="2" charset="0"/>
                <a:ea typeface="Lato"/>
                <a:cs typeface="Lato"/>
                <a:sym typeface="Lato"/>
              </a:rPr>
              <a:t>Tangibles: </a:t>
            </a:r>
            <a:r>
              <a:rPr lang="es-CL" sz="1600" b="0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Lato"/>
                <a:cs typeface="Lato"/>
                <a:sym typeface="Lato"/>
              </a:rPr>
              <a:t>$7.150.000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CL" sz="1600" noProof="0" dirty="0">
                <a:solidFill>
                  <a:schemeClr val="bg1">
                    <a:lumMod val="85000"/>
                  </a:schemeClr>
                </a:solidFill>
                <a:latin typeface="Congenial" panose="02000503040000020004" pitchFamily="2" charset="0"/>
                <a:ea typeface="Lato"/>
                <a:cs typeface="Lato"/>
                <a:sym typeface="Lato"/>
              </a:rPr>
              <a:t>Intangibles: </a:t>
            </a:r>
            <a:r>
              <a:rPr lang="es-CL" sz="1600" noProof="0" dirty="0">
                <a:solidFill>
                  <a:srgbClr val="92D050"/>
                </a:solidFill>
                <a:latin typeface="Congenial" panose="02000503040000020004" pitchFamily="2" charset="0"/>
                <a:ea typeface="Lato"/>
                <a:cs typeface="Lato"/>
                <a:sym typeface="Lato"/>
              </a:rPr>
              <a:t>$200.000</a:t>
            </a:r>
            <a:endParaRPr lang="es-CL" sz="1600" noProof="0" dirty="0">
              <a:solidFill>
                <a:srgbClr val="92D050"/>
              </a:solidFill>
              <a:latin typeface="Congenial" panose="02000503040000020004" pitchFamily="2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600" noProof="0" dirty="0">
              <a:solidFill>
                <a:schemeClr val="bg1">
                  <a:lumMod val="85000"/>
                </a:schemeClr>
              </a:solidFill>
              <a:latin typeface="Congenial" panose="02000503040000020004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238E5A2-EDB5-470E-930F-2A2CC3F7A7CB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Celso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0095-712A-A27D-6734-6FA41F2EA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E1C62-58E0-9F95-C790-E7BD6FF29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377" y="2249671"/>
            <a:ext cx="9091246" cy="2358658"/>
          </a:xfrm>
        </p:spPr>
        <p:txBody>
          <a:bodyPr>
            <a:normAutofit/>
          </a:bodyPr>
          <a:lstStyle/>
          <a:p>
            <a:r>
              <a:rPr lang="es-CL" sz="7200" b="1" noProof="0" dirty="0">
                <a:solidFill>
                  <a:srgbClr val="00B050"/>
                </a:solidFill>
                <a:latin typeface="Congenial" panose="02000503040000020004" pitchFamily="2" charset="0"/>
              </a:rPr>
              <a:t>Estudio Tributario</a:t>
            </a:r>
          </a:p>
        </p:txBody>
      </p:sp>
      <p:sp>
        <p:nvSpPr>
          <p:cNvPr id="4" name="Círculo: vacío 3">
            <a:extLst>
              <a:ext uri="{FF2B5EF4-FFF2-40B4-BE49-F238E27FC236}">
                <a16:creationId xmlns:a16="http://schemas.microsoft.com/office/drawing/2014/main" id="{7974D466-EEA3-D44A-3296-1991E21BC6FC}"/>
              </a:ext>
            </a:extLst>
          </p:cNvPr>
          <p:cNvSpPr/>
          <p:nvPr/>
        </p:nvSpPr>
        <p:spPr>
          <a:xfrm>
            <a:off x="9024436" y="3825433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írculo: vacío 5">
            <a:extLst>
              <a:ext uri="{FF2B5EF4-FFF2-40B4-BE49-F238E27FC236}">
                <a16:creationId xmlns:a16="http://schemas.microsoft.com/office/drawing/2014/main" id="{55CD20FE-A0D7-1A7D-3349-112BCEFEA4C7}"/>
              </a:ext>
            </a:extLst>
          </p:cNvPr>
          <p:cNvSpPr/>
          <p:nvPr/>
        </p:nvSpPr>
        <p:spPr>
          <a:xfrm>
            <a:off x="10740102" y="2249144"/>
            <a:ext cx="3906118" cy="3829736"/>
          </a:xfrm>
          <a:prstGeom prst="donu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Círculo: vacío 7">
            <a:extLst>
              <a:ext uri="{FF2B5EF4-FFF2-40B4-BE49-F238E27FC236}">
                <a16:creationId xmlns:a16="http://schemas.microsoft.com/office/drawing/2014/main" id="{02274D4B-4D03-4400-A726-19A6AF828D9E}"/>
              </a:ext>
            </a:extLst>
          </p:cNvPr>
          <p:cNvSpPr/>
          <p:nvPr/>
        </p:nvSpPr>
        <p:spPr>
          <a:xfrm>
            <a:off x="-3378579" y="4164012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884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39;p14" descr="image.png">
            <a:extLst>
              <a:ext uri="{FF2B5EF4-FFF2-40B4-BE49-F238E27FC236}">
                <a16:creationId xmlns:a16="http://schemas.microsoft.com/office/drawing/2014/main" id="{CCE4C5FF-7C7C-5235-D3F1-75B149B36FE3}"/>
              </a:ext>
            </a:extLst>
          </p:cNvPr>
          <p:cNvPicPr preferRelativeResize="0"/>
          <p:nvPr/>
        </p:nvPicPr>
        <p:blipFill rotWithShape="1">
          <a:blip r:embed="rId3">
            <a:alphaModFix/>
            <a:grayscl/>
          </a:blip>
          <a:srcRect/>
          <a:stretch/>
        </p:blipFill>
        <p:spPr>
          <a:xfrm>
            <a:off x="723902" y="1228602"/>
            <a:ext cx="5154370" cy="236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9;p14" descr="image.png">
            <a:extLst>
              <a:ext uri="{FF2B5EF4-FFF2-40B4-BE49-F238E27FC236}">
                <a16:creationId xmlns:a16="http://schemas.microsoft.com/office/drawing/2014/main" id="{AEAE011C-BC7D-76C4-E7E6-D8387F0F6BF6}"/>
              </a:ext>
            </a:extLst>
          </p:cNvPr>
          <p:cNvPicPr preferRelativeResize="0"/>
          <p:nvPr/>
        </p:nvPicPr>
        <p:blipFill rotWithShape="1">
          <a:blip r:embed="rId3">
            <a:alphaModFix/>
            <a:grayscl/>
          </a:blip>
          <a:srcRect/>
          <a:stretch/>
        </p:blipFill>
        <p:spPr>
          <a:xfrm>
            <a:off x="723902" y="3867914"/>
            <a:ext cx="5154370" cy="236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39;p14" descr="image.png">
            <a:extLst>
              <a:ext uri="{FF2B5EF4-FFF2-40B4-BE49-F238E27FC236}">
                <a16:creationId xmlns:a16="http://schemas.microsoft.com/office/drawing/2014/main" id="{3A5EA4B4-639F-7B8D-E9DE-5ABA49C4EBE6}"/>
              </a:ext>
            </a:extLst>
          </p:cNvPr>
          <p:cNvPicPr preferRelativeResize="0"/>
          <p:nvPr/>
        </p:nvPicPr>
        <p:blipFill rotWithShape="1">
          <a:blip r:embed="rId3">
            <a:alphaModFix/>
            <a:grayscl/>
          </a:blip>
          <a:srcRect/>
          <a:stretch/>
        </p:blipFill>
        <p:spPr>
          <a:xfrm>
            <a:off x="6135602" y="1228602"/>
            <a:ext cx="5154370" cy="236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39;p14" descr="image.png">
            <a:extLst>
              <a:ext uri="{FF2B5EF4-FFF2-40B4-BE49-F238E27FC236}">
                <a16:creationId xmlns:a16="http://schemas.microsoft.com/office/drawing/2014/main" id="{BCF25702-8295-10FE-0496-E629BDA5778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grayscl/>
          </a:blip>
          <a:srcRect/>
          <a:stretch/>
        </p:blipFill>
        <p:spPr>
          <a:xfrm>
            <a:off x="6135602" y="3867914"/>
            <a:ext cx="5154370" cy="236952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571500"/>
            <a:ext cx="623948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375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Merriweather"/>
                <a:cs typeface="Merriweather"/>
                <a:sym typeface="Merriweather"/>
              </a:rPr>
              <a:t>Tasa Impositiva y Utilidades</a:t>
            </a:r>
            <a:endParaRPr lang="es-CL" noProof="0" dirty="0">
              <a:solidFill>
                <a:srgbClr val="1DB954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135602" y="4078145"/>
            <a:ext cx="515437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</a:pPr>
            <a:r>
              <a:rPr lang="es-CL" sz="2800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Tasa de Impuestos </a:t>
            </a:r>
            <a:endParaRPr lang="es-CL" sz="2800" b="1" noProof="0" dirty="0">
              <a:solidFill>
                <a:srgbClr val="1DB954"/>
              </a:solidFill>
              <a:latin typeface="Congenial" panose="02000503040000020004" pitchFamily="2" charset="0"/>
              <a:ea typeface="DM Sans"/>
              <a:cs typeface="DM Sans"/>
              <a:sym typeface="DM Sans"/>
            </a:endParaRPr>
          </a:p>
          <a:p>
            <a:pPr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75000"/>
                </a:schemeClr>
              </a:buClr>
            </a:pPr>
            <a:r>
              <a:rPr lang="es-CL" sz="2800" b="1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27%</a:t>
            </a:r>
            <a:endParaRPr lang="es-CL" sz="2800" b="0" i="0" u="none" strike="noStrike" cap="none" noProof="0" dirty="0">
              <a:solidFill>
                <a:srgbClr val="92D050"/>
              </a:solidFill>
              <a:latin typeface="Congenial" panose="02000503040000020004" pitchFamily="2" charset="0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noProof="0" dirty="0"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3" name="Google Shape;87;p13">
            <a:extLst>
              <a:ext uri="{FF2B5EF4-FFF2-40B4-BE49-F238E27FC236}">
                <a16:creationId xmlns:a16="http://schemas.microsoft.com/office/drawing/2014/main" id="{B57FD765-E97D-4D15-C457-8712BED3A454}"/>
              </a:ext>
            </a:extLst>
          </p:cNvPr>
          <p:cNvSpPr txBox="1"/>
          <p:nvPr/>
        </p:nvSpPr>
        <p:spPr>
          <a:xfrm>
            <a:off x="723901" y="4078145"/>
            <a:ext cx="5154369" cy="198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algn="ctr">
              <a:lnSpc>
                <a:spcPct val="150000"/>
              </a:lnSpc>
              <a:buClr>
                <a:schemeClr val="bg1">
                  <a:lumMod val="75000"/>
                </a:schemeClr>
              </a:buClr>
            </a:pPr>
            <a:r>
              <a:rPr lang="es-CL" sz="2800" b="1" noProof="0" dirty="0">
                <a:solidFill>
                  <a:srgbClr val="1DB954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Punto de Inflexión</a:t>
            </a:r>
            <a:r>
              <a:rPr lang="es-CL" sz="2800" noProof="0" dirty="0">
                <a:solidFill>
                  <a:srgbClr val="1DB954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 </a:t>
            </a:r>
          </a:p>
          <a:p>
            <a:pPr algn="ctr">
              <a:lnSpc>
                <a:spcPct val="150000"/>
              </a:lnSpc>
              <a:buClr>
                <a:schemeClr val="bg1">
                  <a:lumMod val="75000"/>
                </a:schemeClr>
              </a:buClr>
            </a:pPr>
            <a:r>
              <a:rPr lang="es-CL" sz="2800" b="1" noProof="0" dirty="0">
                <a:solidFill>
                  <a:srgbClr val="92D050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Año 2 </a:t>
            </a:r>
          </a:p>
          <a:p>
            <a:pPr algn="ctr">
              <a:lnSpc>
                <a:spcPct val="150000"/>
              </a:lnSpc>
              <a:buClr>
                <a:schemeClr val="bg1">
                  <a:lumMod val="75000"/>
                </a:schemeClr>
              </a:buClr>
            </a:pPr>
            <a:r>
              <a:rPr lang="es-CL" sz="1600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El proyecto tiene utilidades imponibles positivas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noProof="0" dirty="0"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5" name="Google Shape;87;p13">
            <a:extLst>
              <a:ext uri="{FF2B5EF4-FFF2-40B4-BE49-F238E27FC236}">
                <a16:creationId xmlns:a16="http://schemas.microsoft.com/office/drawing/2014/main" id="{8EAA01E8-DEB8-550C-3B34-105BA50EFD00}"/>
              </a:ext>
            </a:extLst>
          </p:cNvPr>
          <p:cNvSpPr txBox="1"/>
          <p:nvPr/>
        </p:nvSpPr>
        <p:spPr>
          <a:xfrm>
            <a:off x="6135602" y="1461453"/>
            <a:ext cx="5022393" cy="2723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algn="ctr">
              <a:lnSpc>
                <a:spcPct val="150000"/>
              </a:lnSpc>
              <a:buClr>
                <a:schemeClr val="bg1">
                  <a:lumMod val="75000"/>
                </a:schemeClr>
              </a:buClr>
            </a:pPr>
            <a:r>
              <a:rPr lang="es-CL" sz="2800" b="1" noProof="0" dirty="0">
                <a:solidFill>
                  <a:srgbClr val="1DB954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Crecimiento Sostenido</a:t>
            </a:r>
          </a:p>
          <a:p>
            <a:pPr algn="ctr">
              <a:lnSpc>
                <a:spcPct val="150000"/>
              </a:lnSpc>
              <a:buClr>
                <a:schemeClr val="bg1">
                  <a:lumMod val="75000"/>
                </a:schemeClr>
              </a:buClr>
            </a:pPr>
            <a:r>
              <a:rPr lang="es-CL" sz="2800" b="1" noProof="0" dirty="0">
                <a:solidFill>
                  <a:srgbClr val="92D050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$403.3M</a:t>
            </a:r>
          </a:p>
          <a:p>
            <a:pPr algn="ctr">
              <a:lnSpc>
                <a:spcPct val="150000"/>
              </a:lnSpc>
              <a:buClr>
                <a:schemeClr val="bg1">
                  <a:lumMod val="75000"/>
                </a:schemeClr>
              </a:buClr>
            </a:pPr>
            <a:r>
              <a:rPr lang="es-CL" sz="1600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Para el Año 5, las utilidades imponibles drásticamente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s-CL" sz="16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noProof="0" dirty="0"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7" name="Google Shape;87;p13">
            <a:extLst>
              <a:ext uri="{FF2B5EF4-FFF2-40B4-BE49-F238E27FC236}">
                <a16:creationId xmlns:a16="http://schemas.microsoft.com/office/drawing/2014/main" id="{1A5CF942-6621-6557-4665-5303C313901E}"/>
              </a:ext>
            </a:extLst>
          </p:cNvPr>
          <p:cNvSpPr txBox="1"/>
          <p:nvPr/>
        </p:nvSpPr>
        <p:spPr>
          <a:xfrm>
            <a:off x="723901" y="1461453"/>
            <a:ext cx="5154369" cy="2354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algn="ctr">
              <a:lnSpc>
                <a:spcPct val="150000"/>
              </a:lnSpc>
              <a:buClr>
                <a:schemeClr val="bg1">
                  <a:lumMod val="75000"/>
                </a:schemeClr>
              </a:buClr>
            </a:pPr>
            <a:r>
              <a:rPr lang="es-CL" sz="2800" b="1" noProof="0" dirty="0">
                <a:solidFill>
                  <a:srgbClr val="1DB954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Año 1 Estratégico</a:t>
            </a:r>
          </a:p>
          <a:p>
            <a:pPr algn="ctr">
              <a:lnSpc>
                <a:spcPct val="150000"/>
              </a:lnSpc>
              <a:buClr>
                <a:schemeClr val="bg1">
                  <a:lumMod val="75000"/>
                </a:schemeClr>
              </a:buClr>
            </a:pPr>
            <a:r>
              <a:rPr lang="es-CL" sz="2800" b="1" noProof="0" dirty="0">
                <a:solidFill>
                  <a:srgbClr val="92D050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-~$28.9M</a:t>
            </a:r>
          </a:p>
          <a:p>
            <a:pPr algn="ctr">
              <a:lnSpc>
                <a:spcPct val="150000"/>
              </a:lnSpc>
              <a:buClr>
                <a:schemeClr val="bg1">
                  <a:lumMod val="75000"/>
                </a:schemeClr>
              </a:buClr>
            </a:pPr>
            <a:r>
              <a:rPr lang="es-CL" sz="1600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Utilidades Negativas</a:t>
            </a:r>
          </a:p>
          <a:p>
            <a:pPr algn="ctr">
              <a:lnSpc>
                <a:spcPct val="150000"/>
              </a:lnSpc>
              <a:buClr>
                <a:schemeClr val="bg1">
                  <a:lumMod val="75000"/>
                </a:schemeClr>
              </a:buClr>
            </a:pPr>
            <a:r>
              <a:rPr lang="es-CL" sz="1600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El proyecto queda exento de impuestos.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noProof="0" dirty="0"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ECFD64D-321E-ECD1-92F1-EEB1106CC2B9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Bastián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375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Merriweather"/>
                <a:cs typeface="Merriweather"/>
                <a:sym typeface="Merriweather"/>
              </a:rPr>
              <a:t>Depreciación y Amortización</a:t>
            </a:r>
            <a:endParaRPr lang="es-CL" noProof="0" dirty="0">
              <a:solidFill>
                <a:srgbClr val="1DB954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1104900"/>
            <a:ext cx="11049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Las inversiones en hardware y software actúan como un </a:t>
            </a:r>
            <a:r>
              <a:rPr lang="es-CL" sz="1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gasto no desembolsable</a:t>
            </a: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. Esto es un beneficio fiscal legítimo que permite disminuir la base imponible año a año.</a:t>
            </a:r>
            <a:endParaRPr lang="es-CL" sz="18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graphicFrame>
        <p:nvGraphicFramePr>
          <p:cNvPr id="102" name="Google Shape;102;p14"/>
          <p:cNvGraphicFramePr/>
          <p:nvPr>
            <p:extLst>
              <p:ext uri="{D42A27DB-BD31-4B8C-83A1-F6EECF244321}">
                <p14:modId xmlns:p14="http://schemas.microsoft.com/office/powerpoint/2010/main" val="1401050569"/>
              </p:ext>
            </p:extLst>
          </p:nvPr>
        </p:nvGraphicFramePr>
        <p:xfrm>
          <a:off x="295274" y="2275561"/>
          <a:ext cx="11601451" cy="36105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4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2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4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26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600" b="1" u="none" strike="noStrike" cap="none" noProof="0" dirty="0">
                          <a:solidFill>
                            <a:srgbClr val="92D050"/>
                          </a:solidFill>
                          <a:latin typeface="Book Antiqua" panose="02040602050305030304" pitchFamily="18" charset="0"/>
                          <a:sym typeface="Merriweather"/>
                        </a:rPr>
                        <a:t>Categoría de Activo</a:t>
                      </a:r>
                      <a:endParaRPr lang="es-CL" sz="2600" noProof="0" dirty="0">
                        <a:solidFill>
                          <a:srgbClr val="92D050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600" b="1" u="none" strike="noStrike" cap="none" noProof="0" dirty="0">
                          <a:solidFill>
                            <a:srgbClr val="92D050"/>
                          </a:solidFill>
                          <a:latin typeface="Book Antiqua" panose="02040602050305030304" pitchFamily="18" charset="0"/>
                          <a:sym typeface="Merriweather"/>
                        </a:rPr>
                        <a:t>Valor Inversión</a:t>
                      </a:r>
                      <a:endParaRPr lang="es-CL" sz="2600" noProof="0" dirty="0">
                        <a:solidFill>
                          <a:srgbClr val="92D050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600" b="1" u="none" strike="noStrike" cap="none" noProof="0" dirty="0">
                          <a:solidFill>
                            <a:srgbClr val="92D050"/>
                          </a:solidFill>
                          <a:latin typeface="Book Antiqua" panose="02040602050305030304" pitchFamily="18" charset="0"/>
                          <a:sym typeface="Merriweather"/>
                        </a:rPr>
                        <a:t>Depreciación Anual </a:t>
                      </a:r>
                      <a:endParaRPr lang="es-CL" sz="2600" noProof="0" dirty="0">
                        <a:solidFill>
                          <a:srgbClr val="92D050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6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600" b="0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Tangibles</a:t>
                      </a:r>
                      <a:endParaRPr lang="es-CL" sz="26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600" b="0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$8.700.000</a:t>
                      </a:r>
                      <a:endParaRPr lang="es-CL" sz="26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600" b="0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$1.486.667</a:t>
                      </a:r>
                      <a:endParaRPr lang="es-CL" sz="26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6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600" b="0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Intangibles </a:t>
                      </a:r>
                      <a:endParaRPr lang="es-CL" sz="26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600" b="0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$200.000</a:t>
                      </a:r>
                      <a:endParaRPr lang="es-CL" sz="26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600" b="0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$40.000</a:t>
                      </a:r>
                      <a:endParaRPr lang="es-CL" sz="26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67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600" b="1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Total Beneficio Anual</a:t>
                      </a:r>
                      <a:endParaRPr lang="es-CL" sz="26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600" b="1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$8.900.000</a:t>
                      </a:r>
                      <a:endParaRPr lang="es-CL" sz="26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600" b="1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$1.526.667</a:t>
                      </a:r>
                      <a:endParaRPr lang="es-CL" sz="26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487CCD45-C7C1-6E80-EB86-FA108BC4A6E3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Bastián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010642A-79D9-90AF-7EBC-79601D2E91C8}"/>
              </a:ext>
            </a:extLst>
          </p:cNvPr>
          <p:cNvSpPr txBox="1"/>
          <p:nvPr/>
        </p:nvSpPr>
        <p:spPr>
          <a:xfrm>
            <a:off x="10145868" y="5947946"/>
            <a:ext cx="1750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600" b="1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*Valores en CLP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DCAED-4EB4-7720-7969-64223BFC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037F5-5BBA-9414-6148-3BE4922EB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377" y="2249671"/>
            <a:ext cx="9091246" cy="2358658"/>
          </a:xfrm>
        </p:spPr>
        <p:txBody>
          <a:bodyPr>
            <a:normAutofit/>
          </a:bodyPr>
          <a:lstStyle/>
          <a:p>
            <a:r>
              <a:rPr lang="es-CL" sz="7200" b="1" noProof="0" dirty="0">
                <a:solidFill>
                  <a:srgbClr val="00B050"/>
                </a:solidFill>
                <a:latin typeface="Congenial" panose="02000503040000020004" pitchFamily="2" charset="0"/>
              </a:rPr>
              <a:t>Estudio Económico</a:t>
            </a:r>
          </a:p>
        </p:txBody>
      </p:sp>
      <p:sp>
        <p:nvSpPr>
          <p:cNvPr id="4" name="Círculo: vacío 3">
            <a:extLst>
              <a:ext uri="{FF2B5EF4-FFF2-40B4-BE49-F238E27FC236}">
                <a16:creationId xmlns:a16="http://schemas.microsoft.com/office/drawing/2014/main" id="{9795BE5E-98C4-58B1-0295-F077B1EB144F}"/>
              </a:ext>
            </a:extLst>
          </p:cNvPr>
          <p:cNvSpPr/>
          <p:nvPr/>
        </p:nvSpPr>
        <p:spPr>
          <a:xfrm>
            <a:off x="9024436" y="3825433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írculo: vacío 5">
            <a:extLst>
              <a:ext uri="{FF2B5EF4-FFF2-40B4-BE49-F238E27FC236}">
                <a16:creationId xmlns:a16="http://schemas.microsoft.com/office/drawing/2014/main" id="{B80B8896-53EA-6459-8E93-F79C39690E37}"/>
              </a:ext>
            </a:extLst>
          </p:cNvPr>
          <p:cNvSpPr/>
          <p:nvPr/>
        </p:nvSpPr>
        <p:spPr>
          <a:xfrm>
            <a:off x="10740102" y="2249144"/>
            <a:ext cx="3906118" cy="3829736"/>
          </a:xfrm>
          <a:prstGeom prst="donu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Círculo: vacío 7">
            <a:extLst>
              <a:ext uri="{FF2B5EF4-FFF2-40B4-BE49-F238E27FC236}">
                <a16:creationId xmlns:a16="http://schemas.microsoft.com/office/drawing/2014/main" id="{B6943349-529D-D809-060B-A8CCF966188F}"/>
              </a:ext>
            </a:extLst>
          </p:cNvPr>
          <p:cNvSpPr/>
          <p:nvPr/>
        </p:nvSpPr>
        <p:spPr>
          <a:xfrm>
            <a:off x="-3378579" y="4164012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4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39;p14" descr="image.png">
            <a:extLst>
              <a:ext uri="{FF2B5EF4-FFF2-40B4-BE49-F238E27FC236}">
                <a16:creationId xmlns:a16="http://schemas.microsoft.com/office/drawing/2014/main" id="{B7C6F8E9-5CD2-E8EA-0AE0-2956BAD2F38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grayscl/>
          </a:blip>
          <a:srcRect/>
          <a:stretch/>
        </p:blipFill>
        <p:spPr>
          <a:xfrm>
            <a:off x="6381249" y="1224022"/>
            <a:ext cx="5154370" cy="506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9;p14" descr="image.png">
            <a:extLst>
              <a:ext uri="{FF2B5EF4-FFF2-40B4-BE49-F238E27FC236}">
                <a16:creationId xmlns:a16="http://schemas.microsoft.com/office/drawing/2014/main" id="{4B680A7E-EE55-3298-AB34-200775A6D09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grayscl/>
          </a:blip>
          <a:srcRect/>
          <a:stretch/>
        </p:blipFill>
        <p:spPr>
          <a:xfrm>
            <a:off x="746276" y="1224023"/>
            <a:ext cx="5154370" cy="506247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375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Merriweather"/>
                <a:cs typeface="Merriweather"/>
                <a:sym typeface="Merriweather"/>
              </a:rPr>
              <a:t> Inversión y Egresos</a:t>
            </a:r>
            <a:endParaRPr lang="es-CL" noProof="0" dirty="0">
              <a:solidFill>
                <a:srgbClr val="00B050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564741" y="2870188"/>
            <a:ext cx="350234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Merriweather"/>
                <a:cs typeface="Merriweather"/>
                <a:sym typeface="Merriweather"/>
              </a:rPr>
              <a:t>Inversión Inicial</a:t>
            </a:r>
            <a:endParaRPr lang="es-CL" sz="1800" noProof="0" dirty="0">
              <a:solidFill>
                <a:srgbClr val="00B050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972020" y="3510626"/>
            <a:ext cx="4724400" cy="309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Estructura de financiamiento orientada a crear la capacidad técnica del laboratorio virtual.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ea typeface="DM Sans"/>
              <a:cs typeface="DM Sans"/>
              <a:sym typeface="DM Sans"/>
            </a:endParaRPr>
          </a:p>
          <a:p>
            <a:pPr lvl="0" algn="ctr">
              <a:lnSpc>
                <a:spcPct val="150000"/>
              </a:lnSpc>
            </a:pPr>
            <a:r>
              <a:rPr lang="es-CL" sz="2200" b="1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Aporte Propio:</a:t>
            </a:r>
            <a:r>
              <a:rPr lang="es-CL" sz="2200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 </a:t>
            </a:r>
            <a:r>
              <a:rPr lang="es-CL" sz="2200" noProof="0" dirty="0">
                <a:solidFill>
                  <a:srgbClr val="92D050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$5.300.000 CLP</a:t>
            </a:r>
          </a:p>
          <a:p>
            <a:pPr algn="ctr">
              <a:lnSpc>
                <a:spcPct val="150000"/>
              </a:lnSpc>
            </a:pPr>
            <a:r>
              <a:rPr lang="es-CL" sz="2200" b="1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Crédito Bancario:</a:t>
            </a:r>
            <a:r>
              <a:rPr lang="es-CL" sz="2200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 </a:t>
            </a:r>
            <a:r>
              <a:rPr lang="es-CL" sz="2200" noProof="0" dirty="0">
                <a:solidFill>
                  <a:srgbClr val="92D050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$2.050.000 CLP</a:t>
            </a:r>
            <a:endParaRPr lang="es-CL" sz="2200" noProof="0" dirty="0">
              <a:solidFill>
                <a:srgbClr val="92D050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6535516" y="2870187"/>
            <a:ext cx="462370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 strike="noStrike" cap="none" noProof="0" dirty="0">
                <a:solidFill>
                  <a:srgbClr val="00B050"/>
                </a:solidFill>
                <a:latin typeface="Congenial" panose="02000503040000020004" pitchFamily="2" charset="0"/>
                <a:ea typeface="Merriweather"/>
                <a:cs typeface="Merriweather"/>
                <a:sym typeface="Merriweather"/>
              </a:rPr>
              <a:t>Estructura de Egresos</a:t>
            </a:r>
            <a:endParaRPr lang="es-CL" sz="1800" noProof="0" dirty="0">
              <a:solidFill>
                <a:srgbClr val="00B050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6916531" y="3469992"/>
            <a:ext cx="4242691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700" b="1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$66.570.000</a:t>
            </a:r>
            <a:r>
              <a:rPr lang="es-CL" sz="2700" b="1" noProof="0" dirty="0">
                <a:solidFill>
                  <a:srgbClr val="92D050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 </a:t>
            </a:r>
            <a:r>
              <a:rPr lang="es-CL" sz="2700" b="1" i="0" u="none" strike="noStrike" cap="none" noProof="0" dirty="0">
                <a:solidFill>
                  <a:srgbClr val="92D050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Anuales</a:t>
            </a:r>
            <a:endParaRPr lang="es-CL" noProof="0" dirty="0">
              <a:solidFill>
                <a:srgbClr val="92D050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596234" y="4566622"/>
            <a:ext cx="47244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La gran mayoría de este costo operacional fijo corresponde a los sueldos </a:t>
            </a:r>
            <a:r>
              <a:rPr lang="es-CL" sz="1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del equipo de programadores</a:t>
            </a:r>
            <a:endParaRPr lang="es-CL" sz="18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650602" y="1597381"/>
            <a:ext cx="981196" cy="89944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1410544" y="4434550"/>
            <a:ext cx="666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333333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•</a:t>
            </a:r>
            <a:endParaRPr lang="es-CL" noProof="0" dirty="0"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1410544" y="4720300"/>
            <a:ext cx="666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333333"/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•</a:t>
            </a:r>
            <a:endParaRPr lang="es-CL" noProof="0" dirty="0"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306268" y="1703624"/>
            <a:ext cx="1082201" cy="89944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6EE7B0C-3289-3FA5-CC9F-EE5F76D370B5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Bastián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375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Merriweather"/>
                <a:cs typeface="Merriweather"/>
                <a:sym typeface="Merriweather"/>
              </a:rPr>
              <a:t>Rentabilidad y Análisis de Escenarios</a:t>
            </a:r>
            <a:endParaRPr lang="es-CL" noProof="0" dirty="0">
              <a:solidFill>
                <a:srgbClr val="1DB954"/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71499" y="1351882"/>
            <a:ext cx="11049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Descontando los flujos a una tasa exigida (WACC) del </a:t>
            </a:r>
            <a:r>
              <a:rPr lang="es-CL" sz="18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13,7%</a:t>
            </a:r>
            <a:r>
              <a:rPr lang="es-CL" sz="1800" b="0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DM Sans"/>
                <a:cs typeface="DM Sans"/>
                <a:sym typeface="DM Sans"/>
              </a:rPr>
              <a:t>, el proyecto demuestra una alta capacidad de resiliencia frente a la adversidad.</a:t>
            </a:r>
            <a:endParaRPr lang="es-CL" sz="1800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  <a:cs typeface="Calibri" panose="020F0502020204030204" pitchFamily="34" charset="0"/>
            </a:endParaRPr>
          </a:p>
        </p:txBody>
      </p:sp>
      <p:graphicFrame>
        <p:nvGraphicFramePr>
          <p:cNvPr id="138" name="Google Shape;138;p16"/>
          <p:cNvGraphicFramePr/>
          <p:nvPr>
            <p:extLst>
              <p:ext uri="{D42A27DB-BD31-4B8C-83A1-F6EECF244321}">
                <p14:modId xmlns:p14="http://schemas.microsoft.com/office/powerpoint/2010/main" val="430687049"/>
              </p:ext>
            </p:extLst>
          </p:nvPr>
        </p:nvGraphicFramePr>
        <p:xfrm>
          <a:off x="571499" y="2697251"/>
          <a:ext cx="11304126" cy="3171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6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0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6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221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800" b="1" u="none" strike="noStrike" cap="none" noProof="0" dirty="0">
                          <a:solidFill>
                            <a:srgbClr val="92D050"/>
                          </a:solidFill>
                          <a:latin typeface="Book Antiqua" panose="02040602050305030304" pitchFamily="18" charset="0"/>
                          <a:sym typeface="Merriweather"/>
                        </a:rPr>
                        <a:t>Indicador Financiero</a:t>
                      </a:r>
                      <a:endParaRPr lang="es-CL" sz="2400" noProof="0" dirty="0">
                        <a:solidFill>
                          <a:srgbClr val="92D050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800" b="1" u="none" strike="noStrike" cap="none" noProof="0" dirty="0">
                          <a:solidFill>
                            <a:srgbClr val="92D050"/>
                          </a:solidFill>
                          <a:latin typeface="Book Antiqua" panose="02040602050305030304" pitchFamily="18" charset="0"/>
                          <a:sym typeface="Merriweather"/>
                        </a:rPr>
                        <a:t>Escenario Pesimista</a:t>
                      </a:r>
                      <a:endParaRPr lang="es-CL" sz="2400" noProof="0" dirty="0">
                        <a:solidFill>
                          <a:srgbClr val="92D050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800" b="1" u="none" strike="noStrike" cap="none" noProof="0" dirty="0">
                          <a:solidFill>
                            <a:srgbClr val="92D050"/>
                          </a:solidFill>
                          <a:latin typeface="Book Antiqua" panose="02040602050305030304" pitchFamily="18" charset="0"/>
                          <a:sym typeface="Merriweather"/>
                        </a:rPr>
                        <a:t>Escenario Base</a:t>
                      </a:r>
                      <a:endParaRPr lang="es-CL" sz="2400" noProof="0" dirty="0">
                        <a:solidFill>
                          <a:srgbClr val="92D050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21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400" b="1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Valor Actual Neto</a:t>
                      </a:r>
                      <a:endParaRPr lang="es-CL" sz="24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400" b="0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$273.129.493 CLP</a:t>
                      </a:r>
                      <a:endParaRPr lang="es-CL" sz="24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400" b="1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$511.383.720 CLP</a:t>
                      </a:r>
                      <a:endParaRPr lang="es-CL" sz="24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21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400" b="1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Tasa Interna de Retorno </a:t>
                      </a:r>
                      <a:endParaRPr lang="es-CL" sz="24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400" b="0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66,67%</a:t>
                      </a:r>
                      <a:endParaRPr lang="es-CL" sz="24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400" b="1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123,85%</a:t>
                      </a:r>
                      <a:endParaRPr lang="es-CL" sz="24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2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400" b="1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Periodo de Recuperación</a:t>
                      </a:r>
                      <a:endParaRPr lang="es-CL" sz="24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400" b="0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4 Años</a:t>
                      </a:r>
                      <a:endParaRPr lang="es-CL" sz="24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400" b="1" u="none" strike="noStrike" cap="none" noProof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Book Antiqua" panose="02040602050305030304" pitchFamily="18" charset="0"/>
                          <a:sym typeface="DM Sans"/>
                        </a:rPr>
                        <a:t>3 Años</a:t>
                      </a:r>
                      <a:endParaRPr lang="es-CL" sz="2400" noProof="0" dirty="0">
                        <a:solidFill>
                          <a:schemeClr val="bg1">
                            <a:lumMod val="7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DBE6A190-D440-3587-D3BF-6E90DDC6F986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Bastián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B3C2F56-2CB4-3A5F-81AD-06BF527A9467}"/>
              </a:ext>
            </a:extLst>
          </p:cNvPr>
          <p:cNvSpPr txBox="1"/>
          <p:nvPr/>
        </p:nvSpPr>
        <p:spPr>
          <a:xfrm>
            <a:off x="10124768" y="5900377"/>
            <a:ext cx="175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800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*Esperado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965769E-2B52-D2B0-C9BF-02BBDADC80B3}"/>
              </a:ext>
            </a:extLst>
          </p:cNvPr>
          <p:cNvSpPr txBox="1"/>
          <p:nvPr/>
        </p:nvSpPr>
        <p:spPr>
          <a:xfrm>
            <a:off x="6824183" y="5917168"/>
            <a:ext cx="175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800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*-30% Ingresos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54C5-DF08-0217-4998-E1909D1A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CD8973-05BD-5098-D747-68A03436D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377" y="2249671"/>
            <a:ext cx="9091246" cy="2358658"/>
          </a:xfrm>
        </p:spPr>
        <p:txBody>
          <a:bodyPr>
            <a:normAutofit/>
          </a:bodyPr>
          <a:lstStyle/>
          <a:p>
            <a:r>
              <a:rPr lang="es-CL" sz="7200" b="1" noProof="0" dirty="0">
                <a:solidFill>
                  <a:srgbClr val="00B050"/>
                </a:solidFill>
                <a:latin typeface="Congenial" panose="02000503040000020004" pitchFamily="2" charset="0"/>
              </a:rPr>
              <a:t>Estudio Financiero</a:t>
            </a:r>
          </a:p>
        </p:txBody>
      </p:sp>
      <p:sp>
        <p:nvSpPr>
          <p:cNvPr id="4" name="Círculo: vacío 3">
            <a:extLst>
              <a:ext uri="{FF2B5EF4-FFF2-40B4-BE49-F238E27FC236}">
                <a16:creationId xmlns:a16="http://schemas.microsoft.com/office/drawing/2014/main" id="{1466F0F1-ED39-2BB6-2318-F76A4A216AB0}"/>
              </a:ext>
            </a:extLst>
          </p:cNvPr>
          <p:cNvSpPr/>
          <p:nvPr/>
        </p:nvSpPr>
        <p:spPr>
          <a:xfrm>
            <a:off x="9024436" y="3825433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Círculo: vacío 5">
            <a:extLst>
              <a:ext uri="{FF2B5EF4-FFF2-40B4-BE49-F238E27FC236}">
                <a16:creationId xmlns:a16="http://schemas.microsoft.com/office/drawing/2014/main" id="{D0B2F1D6-9359-8FC9-B87E-F32B65D3062B}"/>
              </a:ext>
            </a:extLst>
          </p:cNvPr>
          <p:cNvSpPr/>
          <p:nvPr/>
        </p:nvSpPr>
        <p:spPr>
          <a:xfrm>
            <a:off x="10740102" y="2249144"/>
            <a:ext cx="3906118" cy="3829736"/>
          </a:xfrm>
          <a:prstGeom prst="donu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Círculo: vacío 7">
            <a:extLst>
              <a:ext uri="{FF2B5EF4-FFF2-40B4-BE49-F238E27FC236}">
                <a16:creationId xmlns:a16="http://schemas.microsoft.com/office/drawing/2014/main" id="{BA2DF449-283C-4453-FADA-7B2DCED3DFEF}"/>
              </a:ext>
            </a:extLst>
          </p:cNvPr>
          <p:cNvSpPr/>
          <p:nvPr/>
        </p:nvSpPr>
        <p:spPr>
          <a:xfrm>
            <a:off x="-3378579" y="4164012"/>
            <a:ext cx="6379687" cy="6373644"/>
          </a:xfrm>
          <a:prstGeom prst="donu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220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EC13605F-C338-7587-1B86-F1F4C5DCF808}"/>
              </a:ext>
            </a:extLst>
          </p:cNvPr>
          <p:cNvGrpSpPr/>
          <p:nvPr/>
        </p:nvGrpSpPr>
        <p:grpSpPr>
          <a:xfrm>
            <a:off x="0" y="1580617"/>
            <a:ext cx="2588532" cy="4241800"/>
            <a:chOff x="140196" y="1173154"/>
            <a:chExt cx="2545853" cy="4276416"/>
          </a:xfrm>
        </p:grpSpPr>
        <p:pic>
          <p:nvPicPr>
            <p:cNvPr id="86" name="Google Shape;86;p13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0196" y="1173154"/>
              <a:ext cx="2545853" cy="33102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3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3077" y="4639945"/>
              <a:ext cx="2445815" cy="809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3"/>
            <p:cNvSpPr txBox="1"/>
            <p:nvPr/>
          </p:nvSpPr>
          <p:spPr>
            <a:xfrm>
              <a:off x="362889" y="1388468"/>
              <a:ext cx="2050553" cy="248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1925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 b="1" i="0" u="none" strike="noStrike" cap="none" noProof="0" dirty="0">
                  <a:solidFill>
                    <a:srgbClr val="1DBD55"/>
                  </a:solidFill>
                  <a:latin typeface="Congenial" panose="02000503040000020004" pitchFamily="2" charset="0"/>
                  <a:ea typeface="Lato"/>
                  <a:cs typeface="Lato"/>
                  <a:sym typeface="Lato"/>
                </a:rPr>
                <a:t>FINANCIAMIENTO</a:t>
              </a:r>
              <a:endParaRPr lang="es-CL" sz="1600" b="1" noProof="0" dirty="0">
                <a:solidFill>
                  <a:srgbClr val="1DBD55"/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94" name="Google Shape;94;p13"/>
            <p:cNvSpPr txBox="1"/>
            <p:nvPr/>
          </p:nvSpPr>
          <p:spPr>
            <a:xfrm>
              <a:off x="387847" y="4796526"/>
              <a:ext cx="800100" cy="496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 b="1" i="0" u="none" strike="noStrike" cap="none" noProof="0" dirty="0">
                  <a:solidFill>
                    <a:srgbClr val="1DBD55"/>
                  </a:solidFill>
                  <a:latin typeface="Congenial" panose="02000503040000020004" pitchFamily="2" charset="0"/>
                  <a:ea typeface="Lato"/>
                  <a:cs typeface="Lato"/>
                  <a:sym typeface="Lato"/>
                </a:rPr>
                <a:t>CAPM</a:t>
              </a:r>
              <a:r>
                <a:rPr lang="es-CL" sz="1600" b="0" i="0" u="none" strike="noStrike" cap="none" noProof="0" dirty="0">
                  <a:solidFill>
                    <a:srgbClr val="1DBD55"/>
                  </a:solidFill>
                  <a:latin typeface="Congenial" panose="02000503040000020004" pitchFamily="2" charset="0"/>
                  <a:ea typeface="Lato"/>
                  <a:cs typeface="Lato"/>
                  <a:sym typeface="Lato"/>
                </a:rPr>
                <a:t> </a:t>
              </a:r>
              <a:r>
                <a:rPr lang="es-CL" sz="1600" b="1" i="0" u="none" strike="noStrike" cap="none" noProof="0" dirty="0">
                  <a:solidFill>
                    <a:schemeClr val="bg1">
                      <a:lumMod val="75000"/>
                    </a:schemeClr>
                  </a:solidFill>
                  <a:latin typeface="Congenial" panose="02000503040000020004" pitchFamily="2" charset="0"/>
                  <a:ea typeface="Lato"/>
                  <a:cs typeface="Lato"/>
                  <a:sym typeface="Lato"/>
                </a:rPr>
                <a:t>13,70%</a:t>
              </a:r>
              <a:endParaRPr lang="es-CL" sz="1800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1291529" y="4930298"/>
              <a:ext cx="9525" cy="28575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CL" sz="1800" b="0" i="0" u="none" strike="noStrike" cap="none" noProof="0" dirty="0">
                <a:solidFill>
                  <a:schemeClr val="tx2"/>
                </a:solidFill>
                <a:latin typeface="Congenial" panose="02000503040000020004" pitchFamily="2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1613342" y="4796527"/>
              <a:ext cx="800100" cy="496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600" b="1" i="0" u="none" strike="noStrike" cap="none" noProof="0" dirty="0">
                  <a:solidFill>
                    <a:srgbClr val="1DBD55"/>
                  </a:solidFill>
                  <a:latin typeface="Congenial" panose="02000503040000020004" pitchFamily="2" charset="0"/>
                  <a:ea typeface="Lato"/>
                  <a:cs typeface="Lato"/>
                  <a:sym typeface="Lato"/>
                </a:rPr>
                <a:t>WACC</a:t>
              </a:r>
              <a:r>
                <a:rPr lang="es-CL" sz="1600" b="0" i="0" u="none" strike="noStrike" cap="none" noProof="0" dirty="0">
                  <a:solidFill>
                    <a:srgbClr val="1DBD55"/>
                  </a:solidFill>
                  <a:latin typeface="Congenial" panose="02000503040000020004" pitchFamily="2" charset="0"/>
                  <a:ea typeface="Lato"/>
                  <a:cs typeface="Lato"/>
                  <a:sym typeface="Lato"/>
                </a:rPr>
                <a:t> </a:t>
              </a:r>
              <a:r>
                <a:rPr lang="es-CL" sz="1600" b="1" i="0" u="none" strike="noStrike" cap="none" noProof="0" dirty="0">
                  <a:solidFill>
                    <a:schemeClr val="bg1">
                      <a:lumMod val="75000"/>
                    </a:schemeClr>
                  </a:solidFill>
                  <a:latin typeface="Congenial" panose="02000503040000020004" pitchFamily="2" charset="0"/>
                  <a:ea typeface="Lato"/>
                  <a:cs typeface="Lato"/>
                  <a:sym typeface="Lato"/>
                </a:rPr>
                <a:t>13,83%</a:t>
              </a:r>
              <a:endParaRPr lang="es-CL" sz="1800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454520" y="3616603"/>
              <a:ext cx="2050553" cy="434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b="0" i="0" u="none" strike="noStrike" cap="none" noProof="0" dirty="0">
                  <a:solidFill>
                    <a:schemeClr val="bg1">
                      <a:lumMod val="75000"/>
                    </a:schemeClr>
                  </a:solidFill>
                  <a:latin typeface="Congenial" panose="02000503040000020004" pitchFamily="2" charset="0"/>
                  <a:ea typeface="Lato"/>
                  <a:cs typeface="Lato"/>
                  <a:sym typeface="Lato"/>
                </a:rPr>
                <a:t>   Capital Propio (70%) </a:t>
              </a:r>
              <a:endParaRPr lang="es-CL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b="0" i="0" u="none" strike="noStrike" cap="none" noProof="0" dirty="0">
                  <a:solidFill>
                    <a:srgbClr val="92D050"/>
                  </a:solidFill>
                  <a:latin typeface="Congenial" panose="02000503040000020004" pitchFamily="2" charset="0"/>
                  <a:ea typeface="Lato"/>
                  <a:cs typeface="Lato"/>
                  <a:sym typeface="Lato"/>
                </a:rPr>
                <a:t>$5.3M</a:t>
              </a:r>
              <a:endParaRPr lang="es-CL" sz="2000" noProof="0" dirty="0">
                <a:solidFill>
                  <a:srgbClr val="92D050"/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103" name="Google Shape;103;p13"/>
            <p:cNvSpPr txBox="1"/>
            <p:nvPr/>
          </p:nvSpPr>
          <p:spPr>
            <a:xfrm>
              <a:off x="454520" y="4025846"/>
              <a:ext cx="2050553" cy="434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b="0" i="0" u="none" strike="noStrike" cap="none" noProof="0" dirty="0">
                  <a:solidFill>
                    <a:schemeClr val="bg1">
                      <a:lumMod val="75000"/>
                    </a:schemeClr>
                  </a:solidFill>
                  <a:latin typeface="Congenial" panose="02000503040000020004" pitchFamily="2" charset="0"/>
                  <a:ea typeface="Lato"/>
                  <a:cs typeface="Lato"/>
                  <a:sym typeface="Lato"/>
                </a:rPr>
                <a:t>Crédito BCI (30%) 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b="0" i="0" u="none" strike="noStrike" cap="none" noProof="0" dirty="0">
                  <a:solidFill>
                    <a:srgbClr val="92D050"/>
                  </a:solidFill>
                  <a:latin typeface="Congenial" panose="02000503040000020004" pitchFamily="2" charset="0"/>
                  <a:ea typeface="Lato"/>
                  <a:cs typeface="Lato"/>
                  <a:sym typeface="Lato"/>
                </a:rPr>
                <a:t> $2.05M</a:t>
              </a:r>
              <a:endParaRPr lang="es-CL" sz="2000" noProof="0" dirty="0">
                <a:solidFill>
                  <a:srgbClr val="92D050"/>
                </a:solidFill>
                <a:latin typeface="Congenial" panose="02000503040000020004" pitchFamily="2" charset="0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02146" y="3685222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1DB95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CL" sz="1800" b="0" i="0" u="none" strike="noStrike" cap="none" noProof="0" dirty="0">
                <a:solidFill>
                  <a:schemeClr val="tx2"/>
                </a:solidFill>
                <a:latin typeface="Congenial" panose="02000503040000020004" pitchFamily="2" charset="0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502146" y="3894772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CL" sz="1800" b="0" i="0" u="none" strike="noStrike" cap="none" noProof="0" dirty="0">
                <a:solidFill>
                  <a:schemeClr val="tx2"/>
                </a:solidFill>
                <a:latin typeface="Congenial" panose="02000503040000020004" pitchFamily="2" charset="0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3"/>
          <p:cNvSpPr txBox="1"/>
          <p:nvPr/>
        </p:nvSpPr>
        <p:spPr>
          <a:xfrm>
            <a:off x="762000" y="47625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 noProof="0" dirty="0">
                <a:solidFill>
                  <a:srgbClr val="1DBD55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ESTRUCTURA FINANCIERA DEL PROYECTO</a:t>
            </a:r>
            <a:endParaRPr lang="es-CL" noProof="0" dirty="0">
              <a:solidFill>
                <a:srgbClr val="1DBD55"/>
              </a:solidFill>
              <a:latin typeface="Congenial" panose="02000503040000020004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B67821-CF7E-3550-AF4F-3618209582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664508" y="1684377"/>
            <a:ext cx="9453068" cy="3910869"/>
          </a:xfrm>
          <a:prstGeom prst="rect">
            <a:avLst/>
          </a:prstGeom>
        </p:spPr>
      </p:pic>
      <p:sp>
        <p:nvSpPr>
          <p:cNvPr id="4" name="Google Shape;105;p13">
            <a:extLst>
              <a:ext uri="{FF2B5EF4-FFF2-40B4-BE49-F238E27FC236}">
                <a16:creationId xmlns:a16="http://schemas.microsoft.com/office/drawing/2014/main" id="{03729675-229C-76E0-F757-ED8AF25862FA}"/>
              </a:ext>
            </a:extLst>
          </p:cNvPr>
          <p:cNvSpPr/>
          <p:nvPr/>
        </p:nvSpPr>
        <p:spPr>
          <a:xfrm>
            <a:off x="374552" y="4454070"/>
            <a:ext cx="97388" cy="94479"/>
          </a:xfrm>
          <a:prstGeom prst="roundRect">
            <a:avLst>
              <a:gd name="adj" fmla="val 50000"/>
            </a:avLst>
          </a:prstGeom>
          <a:solidFill>
            <a:srgbClr val="1DB9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tx2"/>
              </a:solidFill>
              <a:latin typeface="Congenial" panose="02000503040000020004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A11D0D1-F85E-D272-F104-E9D57CE3E34F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Celso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6;p14" descr="image.png">
            <a:extLst>
              <a:ext uri="{FF2B5EF4-FFF2-40B4-BE49-F238E27FC236}">
                <a16:creationId xmlns:a16="http://schemas.microsoft.com/office/drawing/2014/main" id="{E67B2A0E-2C02-B61D-B08C-149B8BE786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950" y="3220835"/>
            <a:ext cx="3492400" cy="3160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90743"/>
            <a:ext cx="3492400" cy="1425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1390743"/>
            <a:ext cx="3492549" cy="1425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950" y="1390743"/>
            <a:ext cx="3492400" cy="14251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9" name="Google Shape;119;p14"/>
          <p:cNvGraphicFramePr/>
          <p:nvPr>
            <p:extLst>
              <p:ext uri="{D42A27DB-BD31-4B8C-83A1-F6EECF244321}">
                <p14:modId xmlns:p14="http://schemas.microsoft.com/office/powerpoint/2010/main" val="91912258"/>
              </p:ext>
            </p:extLst>
          </p:nvPr>
        </p:nvGraphicFramePr>
        <p:xfrm>
          <a:off x="499059" y="3225730"/>
          <a:ext cx="7343140" cy="303357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14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6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5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338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 b="1" i="0" u="none" strike="noStrike" cap="none" noProof="0" dirty="0">
                          <a:solidFill>
                            <a:srgbClr val="1DB954"/>
                          </a:solidFill>
                          <a:latin typeface="Book Antiqua" panose="02040602050305030304" pitchFamily="18" charset="0"/>
                          <a:ea typeface="Lato"/>
                          <a:cs typeface="Lato"/>
                          <a:sym typeface="Lato"/>
                        </a:rPr>
                        <a:t>Escenario</a:t>
                      </a:r>
                      <a:endParaRPr lang="es-CL" sz="3200" noProof="0" dirty="0"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 b="1" i="0" u="none" strike="noStrike" cap="none" noProof="0" dirty="0">
                          <a:solidFill>
                            <a:srgbClr val="1DB954"/>
                          </a:solidFill>
                          <a:latin typeface="Book Antiqua" panose="02040602050305030304" pitchFamily="18" charset="0"/>
                          <a:ea typeface="Lato"/>
                          <a:cs typeface="Lato"/>
                          <a:sym typeface="Lato"/>
                        </a:rPr>
                        <a:t>Análisis de Variación</a:t>
                      </a:r>
                      <a:endParaRPr lang="es-CL" sz="3200" noProof="0" dirty="0"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 b="1" i="0" u="none" strike="noStrike" cap="none" noProof="0" dirty="0">
                          <a:solidFill>
                            <a:srgbClr val="1DB954"/>
                          </a:solidFill>
                          <a:latin typeface="Book Antiqua" panose="02040602050305030304" pitchFamily="18" charset="0"/>
                          <a:ea typeface="Lato"/>
                          <a:cs typeface="Lato"/>
                          <a:sym typeface="Lato"/>
                        </a:rPr>
                        <a:t>Resultado</a:t>
                      </a:r>
                      <a:endParaRPr lang="es-CL" sz="3200" noProof="0" dirty="0"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40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0" i="0" u="none" strike="noStrike" cap="none" noProof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Book Antiqua" panose="02040602050305030304" pitchFamily="18" charset="0"/>
                          <a:ea typeface="Lato"/>
                          <a:cs typeface="Lato"/>
                          <a:sym typeface="Lato"/>
                        </a:rPr>
                        <a:t>Pesimista </a:t>
                      </a:r>
                      <a:r>
                        <a:rPr lang="es-CL" sz="1800" b="0" i="0" u="none" strike="noStrike" cap="none" noProof="0" dirty="0">
                          <a:solidFill>
                            <a:srgbClr val="FFB86C"/>
                          </a:solidFill>
                          <a:latin typeface="Book Antiqua" panose="02040602050305030304" pitchFamily="18" charset="0"/>
                          <a:ea typeface="Lato"/>
                          <a:cs typeface="Lato"/>
                          <a:sym typeface="Lato"/>
                        </a:rPr>
                        <a:t>-30%</a:t>
                      </a:r>
                      <a:endParaRPr lang="es-CL" sz="2000" noProof="0" dirty="0">
                        <a:solidFill>
                          <a:srgbClr val="FFB86C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0" i="0" u="none" strike="noStrike" cap="none" noProof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Book Antiqua" panose="02040602050305030304" pitchFamily="18" charset="0"/>
                          <a:ea typeface="Lato"/>
                          <a:cs typeface="Lato"/>
                          <a:sym typeface="Lato"/>
                        </a:rPr>
                        <a:t>Impacto en volumen de ventas</a:t>
                      </a:r>
                      <a:endParaRPr lang="es-CL" sz="2000" noProof="0" dirty="0">
                        <a:solidFill>
                          <a:schemeClr val="bg1">
                            <a:lumMod val="8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0" i="0" u="none" strike="noStrike" cap="none" noProof="0" dirty="0">
                          <a:solidFill>
                            <a:srgbClr val="FFB86C"/>
                          </a:solidFill>
                          <a:latin typeface="Book Antiqua" panose="02040602050305030304" pitchFamily="18" charset="0"/>
                          <a:ea typeface="Lato"/>
                          <a:cs typeface="Lato"/>
                          <a:sym typeface="Lato"/>
                        </a:rPr>
                        <a:t>Proyecto mantiene rentabilidad</a:t>
                      </a:r>
                      <a:endParaRPr lang="es-CL" sz="2000" noProof="0" dirty="0"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38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0" i="0" u="none" strike="noStrike" cap="none" noProof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Book Antiqua" panose="02040602050305030304" pitchFamily="18" charset="0"/>
                          <a:ea typeface="Lato"/>
                          <a:cs typeface="Lato"/>
                          <a:sym typeface="Lato"/>
                        </a:rPr>
                        <a:t>Base</a:t>
                      </a:r>
                      <a:endParaRPr lang="es-CL" sz="2000" noProof="0" dirty="0">
                        <a:solidFill>
                          <a:schemeClr val="bg1">
                            <a:lumMod val="8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0" i="0" u="none" strike="noStrike" cap="none" noProof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Book Antiqua" panose="02040602050305030304" pitchFamily="18" charset="0"/>
                          <a:ea typeface="Lato"/>
                          <a:cs typeface="Lato"/>
                          <a:sym typeface="Lato"/>
                        </a:rPr>
                        <a:t>Proyecciones estándar</a:t>
                      </a:r>
                      <a:endParaRPr lang="es-CL" sz="2000" noProof="0" dirty="0">
                        <a:solidFill>
                          <a:schemeClr val="bg1">
                            <a:lumMod val="8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0" i="0" u="none" strike="noStrike" cap="none" noProof="0" dirty="0">
                          <a:solidFill>
                            <a:srgbClr val="1DB954"/>
                          </a:solidFill>
                          <a:latin typeface="Book Antiqua" panose="02040602050305030304" pitchFamily="18" charset="0"/>
                          <a:ea typeface="Lato"/>
                          <a:cs typeface="Lato"/>
                          <a:sym typeface="Lato"/>
                        </a:rPr>
                        <a:t>Alta rentabilidad</a:t>
                      </a:r>
                      <a:endParaRPr lang="es-CL" sz="2000" noProof="0" dirty="0"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40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0" i="0" u="none" strike="noStrike" cap="none" noProof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Book Antiqua" panose="02040602050305030304" pitchFamily="18" charset="0"/>
                          <a:ea typeface="Lato"/>
                          <a:cs typeface="Lato"/>
                          <a:sym typeface="Lato"/>
                        </a:rPr>
                        <a:t>Optimista </a:t>
                      </a:r>
                      <a:r>
                        <a:rPr lang="es-CL" sz="1800" b="0" i="0" u="none" strike="noStrike" cap="none" noProof="0" dirty="0">
                          <a:solidFill>
                            <a:srgbClr val="92D050"/>
                          </a:solidFill>
                          <a:latin typeface="Book Antiqua" panose="02040602050305030304" pitchFamily="18" charset="0"/>
                          <a:ea typeface="Lato"/>
                          <a:cs typeface="Lato"/>
                          <a:sym typeface="Lato"/>
                        </a:rPr>
                        <a:t>+30%</a:t>
                      </a:r>
                      <a:endParaRPr lang="es-CL" sz="2000" noProof="0" dirty="0">
                        <a:solidFill>
                          <a:srgbClr val="92D050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0" i="0" u="none" strike="noStrike" cap="none" noProof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Book Antiqua" panose="02040602050305030304" pitchFamily="18" charset="0"/>
                          <a:ea typeface="Lato"/>
                          <a:cs typeface="Lato"/>
                          <a:sym typeface="Lato"/>
                        </a:rPr>
                        <a:t>Expansión acelerada</a:t>
                      </a:r>
                      <a:endParaRPr lang="es-CL" sz="2000" noProof="0" dirty="0">
                        <a:solidFill>
                          <a:schemeClr val="bg1">
                            <a:lumMod val="85000"/>
                          </a:schemeClr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1" i="0" u="none" strike="noStrike" cap="none" noProof="0" dirty="0">
                          <a:solidFill>
                            <a:srgbClr val="A3E635"/>
                          </a:solidFill>
                          <a:latin typeface="Book Antiqua" panose="02040602050305030304" pitchFamily="18" charset="0"/>
                          <a:ea typeface="Lato"/>
                          <a:cs typeface="Lato"/>
                          <a:sym typeface="Lato"/>
                        </a:rPr>
                        <a:t>Rentabilidad excepcional</a:t>
                      </a:r>
                      <a:endParaRPr lang="es-CL" sz="2000" noProof="0" dirty="0">
                        <a:latin typeface="Book Antiqua" panose="02040602050305030304" pitchFamily="18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1" name="Google Shape;121;p14"/>
          <p:cNvSpPr txBox="1"/>
          <p:nvPr/>
        </p:nvSpPr>
        <p:spPr>
          <a:xfrm>
            <a:off x="8258660" y="3342135"/>
            <a:ext cx="3361690" cy="2693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Lato"/>
                <a:cs typeface="Lato"/>
                <a:sym typeface="Lato"/>
              </a:rPr>
              <a:t>3DLab genera valor económico, recupera la inversión en tres años y mantiene resultados favorables incluso ante escenarios adversos</a:t>
            </a:r>
            <a:r>
              <a:rPr lang="es-CL" sz="2400" b="1" i="0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Lato"/>
                <a:cs typeface="Lato"/>
                <a:sym typeface="Lato"/>
              </a:rPr>
              <a:t>.</a:t>
            </a:r>
            <a:endParaRPr lang="es-CL" sz="2400" noProof="0" dirty="0">
              <a:solidFill>
                <a:schemeClr val="bg1">
                  <a:lumMod val="7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762000" y="1486463"/>
            <a:ext cx="2997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Lato"/>
                <a:cs typeface="Lato"/>
                <a:sym typeface="Lato"/>
              </a:rPr>
              <a:t>VAN</a:t>
            </a:r>
            <a:endParaRPr lang="es-CL" sz="4000" b="1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819150" y="2063415"/>
            <a:ext cx="29971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1DBD55"/>
                </a:solidFill>
                <a:latin typeface="Congenial" panose="02000503040000020004" pitchFamily="2" charset="0"/>
                <a:ea typeface="Lato"/>
                <a:cs typeface="Lato"/>
                <a:sym typeface="Lato"/>
              </a:rPr>
              <a:t>$511.383.720</a:t>
            </a:r>
            <a:endParaRPr lang="es-CL" noProof="0" dirty="0">
              <a:solidFill>
                <a:srgbClr val="1DBD55"/>
              </a:solidFill>
              <a:latin typeface="Congenial" panose="02000503040000020004" pitchFamily="2" charset="0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4540150" y="1486463"/>
            <a:ext cx="299724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u="none" strike="noStrike" cap="none" noProof="0" dirty="0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Lato"/>
                <a:cs typeface="Lato"/>
                <a:sym typeface="Lato"/>
              </a:rPr>
              <a:t>TIR</a:t>
            </a:r>
            <a:endParaRPr lang="es-CL" sz="4000" b="1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4597300" y="2063415"/>
            <a:ext cx="299724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1DB954"/>
                </a:solidFill>
                <a:latin typeface="Congenial" panose="02000503040000020004" pitchFamily="2" charset="0"/>
                <a:ea typeface="Lato"/>
                <a:cs typeface="Lato"/>
                <a:sym typeface="Lato"/>
              </a:rPr>
              <a:t>123,85%</a:t>
            </a:r>
            <a:endParaRPr lang="es-CL" noProof="0" dirty="0">
              <a:latin typeface="Congenial" panose="02000503040000020004" pitchFamily="2" charset="0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8318450" y="1486463"/>
            <a:ext cx="2997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u="none" strike="noStrike" cap="none" noProof="0" dirty="0" err="1">
                <a:solidFill>
                  <a:schemeClr val="bg1">
                    <a:lumMod val="75000"/>
                  </a:schemeClr>
                </a:solidFill>
                <a:latin typeface="Congenial" panose="02000503040000020004" pitchFamily="2" charset="0"/>
                <a:ea typeface="Lato"/>
                <a:cs typeface="Lato"/>
                <a:sym typeface="Lato"/>
              </a:rPr>
              <a:t>Payback</a:t>
            </a:r>
            <a:endParaRPr lang="es-CL" sz="4000" b="1" noProof="0" dirty="0">
              <a:solidFill>
                <a:schemeClr val="bg1">
                  <a:lumMod val="75000"/>
                </a:schemeClr>
              </a:solidFill>
              <a:latin typeface="Congenial" panose="02000503040000020004" pitchFamily="2" charset="0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375600" y="2063415"/>
            <a:ext cx="29971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1DBD55"/>
                </a:solidFill>
                <a:latin typeface="Congenial" panose="02000503040000020004" pitchFamily="2" charset="0"/>
                <a:ea typeface="Lato"/>
                <a:cs typeface="Lato"/>
                <a:sym typeface="Lato"/>
              </a:rPr>
              <a:t>3 Años</a:t>
            </a:r>
            <a:endParaRPr lang="es-CL" noProof="0" dirty="0">
              <a:solidFill>
                <a:srgbClr val="1DBD55"/>
              </a:solidFill>
              <a:latin typeface="Congenial" panose="02000503040000020004" pitchFamily="2" charset="0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762000" y="47625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 noProof="0" dirty="0">
                <a:solidFill>
                  <a:srgbClr val="1DBD55"/>
                </a:solidFill>
                <a:latin typeface="Congenial" panose="02000503040000020004" pitchFamily="2" charset="0"/>
                <a:ea typeface="Urbanist"/>
                <a:cs typeface="Urbanist"/>
                <a:sym typeface="Urbanist"/>
              </a:rPr>
              <a:t>EVALUACIÓN FINANCIERA Y ANÁLISIS DE RIESGO</a:t>
            </a:r>
            <a:endParaRPr lang="es-CL" noProof="0" dirty="0">
              <a:solidFill>
                <a:srgbClr val="1DBD55"/>
              </a:solidFill>
              <a:latin typeface="Congenial" panose="02000503040000020004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6091B08-FC0C-41F6-2632-6A10AC0DEC4A}"/>
              </a:ext>
            </a:extLst>
          </p:cNvPr>
          <p:cNvSpPr txBox="1"/>
          <p:nvPr/>
        </p:nvSpPr>
        <p:spPr>
          <a:xfrm>
            <a:off x="10441143" y="6374334"/>
            <a:ext cx="1750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92D050"/>
                </a:solidFill>
                <a:latin typeface="Book Antiqua" panose="02040602050305030304" pitchFamily="18" charset="0"/>
              </a:rPr>
              <a:t>Orador: Celso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5DB3AC-79B1-9A46-0EA3-DB91F7846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6D6FA0-6DF7-B7B4-EEED-0B97B878921E}"/>
              </a:ext>
            </a:extLst>
          </p:cNvPr>
          <p:cNvSpPr/>
          <p:nvPr/>
        </p:nvSpPr>
        <p:spPr>
          <a:xfrm>
            <a:off x="9052560" y="-1554480"/>
            <a:ext cx="5120640" cy="5120640"/>
          </a:xfrm>
          <a:prstGeom prst="ellipse">
            <a:avLst/>
          </a:prstGeom>
          <a:ln w="19050">
            <a:solidFill>
              <a:srgbClr val="008000">
                <a:alpha val="17255"/>
              </a:srgbClr>
            </a:solidFill>
            <a:prstDash val="solid"/>
          </a:ln>
        </p:spPr>
        <p:txBody>
          <a:bodyPr/>
          <a:lstStyle/>
          <a:p>
            <a:endParaRPr lang="es-CL" noProof="0" dirty="0">
              <a:latin typeface="Book Antiqua" panose="02040602050305030304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EB769B-43AE-29BC-E659-BC4601DF8B8E}"/>
              </a:ext>
            </a:extLst>
          </p:cNvPr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ln w="19050">
            <a:solidFill>
              <a:srgbClr val="169C46">
                <a:alpha val="44706"/>
              </a:srgbClr>
            </a:solidFill>
            <a:prstDash val="solid"/>
          </a:ln>
        </p:spPr>
        <p:txBody>
          <a:bodyPr/>
          <a:lstStyle/>
          <a:p>
            <a:endParaRPr lang="es-CL" noProof="0" dirty="0">
              <a:latin typeface="Congenial" panose="02000503040000020004" pitchFamily="2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0A31680-9D6E-8F51-F440-F3C88DD269AD}"/>
              </a:ext>
            </a:extLst>
          </p:cNvPr>
          <p:cNvSpPr/>
          <p:nvPr/>
        </p:nvSpPr>
        <p:spPr>
          <a:xfrm>
            <a:off x="777240" y="1289812"/>
            <a:ext cx="10207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s-CL" sz="7200" b="1" noProof="0" dirty="0">
                <a:solidFill>
                  <a:srgbClr val="131414"/>
                </a:solidFill>
                <a:latin typeface="Congenial" panose="02000503040000020004" pitchFamily="2" charset="0"/>
                <a:cs typeface="Calibri" pitchFamily="34" charset="-120"/>
              </a:rPr>
              <a:t>Tenemos el futuro frente a nuestros ojos</a:t>
            </a:r>
            <a:endParaRPr lang="es-CL" sz="7200" noProof="0" dirty="0">
              <a:solidFill>
                <a:srgbClr val="131414"/>
              </a:solidFill>
              <a:latin typeface="Congenial" panose="02000503040000020004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F824805-BFDF-CA24-A39A-6C98B6C28D44}"/>
              </a:ext>
            </a:extLst>
          </p:cNvPr>
          <p:cNvSpPr/>
          <p:nvPr/>
        </p:nvSpPr>
        <p:spPr>
          <a:xfrm>
            <a:off x="777240" y="329508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000" noProof="0" dirty="0">
                <a:solidFill>
                  <a:srgbClr val="003300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Defensa de Inversión en Proyecto 3DLAB</a:t>
            </a:r>
            <a:endParaRPr lang="es-CL" sz="2000" noProof="0" dirty="0">
              <a:solidFill>
                <a:srgbClr val="003300"/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34A1E6A-01A7-D0B1-53D3-1BA70341EE08}"/>
              </a:ext>
            </a:extLst>
          </p:cNvPr>
          <p:cNvSpPr/>
          <p:nvPr/>
        </p:nvSpPr>
        <p:spPr>
          <a:xfrm>
            <a:off x="777240" y="3926840"/>
            <a:ext cx="7259320" cy="1925320"/>
          </a:xfrm>
          <a:prstGeom prst="roundRect">
            <a:avLst>
              <a:gd name="adj" fmla="val 645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 noProof="0" dirty="0">
              <a:latin typeface="Book Antiqua" panose="02040602050305030304" pitchFamily="18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3703816-8263-5D7D-4588-3BD8A4C9B978}"/>
              </a:ext>
            </a:extLst>
          </p:cNvPr>
          <p:cNvSpPr/>
          <p:nvPr/>
        </p:nvSpPr>
        <p:spPr>
          <a:xfrm>
            <a:off x="1142999" y="4097527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INTEGRANTES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3057D3E-E933-F8D1-92D3-3483D1B36C1D}"/>
              </a:ext>
            </a:extLst>
          </p:cNvPr>
          <p:cNvSpPr/>
          <p:nvPr/>
        </p:nvSpPr>
        <p:spPr>
          <a:xfrm>
            <a:off x="1142999" y="4391381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Celso Farías – Matías </a:t>
            </a:r>
            <a:r>
              <a:rPr lang="es-CL" noProof="0" dirty="0" err="1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Isidin</a:t>
            </a:r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</a:br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Roberto López – Bastián Soto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1342C26-3EF1-0BC4-8064-CA59DE2BCF3E}"/>
              </a:ext>
            </a:extLst>
          </p:cNvPr>
          <p:cNvSpPr/>
          <p:nvPr/>
        </p:nvSpPr>
        <p:spPr>
          <a:xfrm>
            <a:off x="4434839" y="4097527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DOCENTE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53B9A76-1E36-156B-37CB-9E2E02352D84}"/>
              </a:ext>
            </a:extLst>
          </p:cNvPr>
          <p:cNvSpPr/>
          <p:nvPr/>
        </p:nvSpPr>
        <p:spPr>
          <a:xfrm>
            <a:off x="4434839" y="4339758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Paz Hidalgo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2A917D1-1DCF-EC98-A197-7ED3248BF8FD}"/>
              </a:ext>
            </a:extLst>
          </p:cNvPr>
          <p:cNvSpPr/>
          <p:nvPr/>
        </p:nvSpPr>
        <p:spPr>
          <a:xfrm>
            <a:off x="1142999" y="4834128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ASIGNATURA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43E0C65-598D-02FD-14FD-4652368A7127}"/>
              </a:ext>
            </a:extLst>
          </p:cNvPr>
          <p:cNvSpPr/>
          <p:nvPr/>
        </p:nvSpPr>
        <p:spPr>
          <a:xfrm>
            <a:off x="1142999" y="5076359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Administración Financiera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1676C85-635B-4A33-FCEE-69635DE23E3A}"/>
              </a:ext>
            </a:extLst>
          </p:cNvPr>
          <p:cNvSpPr/>
          <p:nvPr/>
        </p:nvSpPr>
        <p:spPr>
          <a:xfrm>
            <a:off x="4434839" y="4834128"/>
            <a:ext cx="3152073" cy="322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kern="0" spc="150" noProof="0" dirty="0">
                <a:solidFill>
                  <a:srgbClr val="003300"/>
                </a:solidFill>
                <a:latin typeface="Congenial" panose="02000503040000020004" pitchFamily="2" charset="0"/>
                <a:ea typeface="Calibri" pitchFamily="34" charset="-122"/>
                <a:cs typeface="Calibri" pitchFamily="34" charset="-120"/>
              </a:rPr>
              <a:t>FECHA</a:t>
            </a:r>
            <a:endParaRPr lang="es-CL" sz="1200" noProof="0" dirty="0">
              <a:solidFill>
                <a:srgbClr val="003300"/>
              </a:solidFill>
              <a:latin typeface="Congenial" panose="02000503040000020004" pitchFamily="2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BFD7080-A887-8DED-176A-E4CCACBCF332}"/>
              </a:ext>
            </a:extLst>
          </p:cNvPr>
          <p:cNvSpPr/>
          <p:nvPr/>
        </p:nvSpPr>
        <p:spPr>
          <a:xfrm>
            <a:off x="4434839" y="5076359"/>
            <a:ext cx="3152073" cy="3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noProof="0" dirty="0">
                <a:solidFill>
                  <a:srgbClr val="131313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22 de Junio de 2026</a:t>
            </a:r>
            <a:endParaRPr lang="es-CL" noProof="0" dirty="0">
              <a:solidFill>
                <a:srgbClr val="131313"/>
              </a:solidFill>
              <a:latin typeface="Book Antiqua" panose="02040602050305030304" pitchFamily="18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EC890AEB-47B3-8605-CE32-5740CBDCF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" y="269744"/>
            <a:ext cx="2642825" cy="112624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51EB2D8-AFE0-3F47-C749-2513DF6947C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070846" y="269744"/>
            <a:ext cx="1827572" cy="184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28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1496</Words>
  <Application>Microsoft Office PowerPoint</Application>
  <PresentationFormat>Panorámica</PresentationFormat>
  <Paragraphs>322</Paragraphs>
  <Slides>28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3" baseType="lpstr">
      <vt:lpstr>Congenial</vt:lpstr>
      <vt:lpstr>Calibri</vt:lpstr>
      <vt:lpstr>Book Antiqua</vt:lpstr>
      <vt:lpstr>Arial</vt:lpstr>
      <vt:lpstr>Office Theme</vt:lpstr>
      <vt:lpstr>Presentación de PowerPoint</vt:lpstr>
      <vt:lpstr>Presentación de PowerPoint</vt:lpstr>
      <vt:lpstr>Presentación de PowerPoint</vt:lpstr>
      <vt:lpstr>Estudio Administrativo</vt:lpstr>
      <vt:lpstr>Presentación de PowerPoint</vt:lpstr>
      <vt:lpstr>Estudio Legal</vt:lpstr>
      <vt:lpstr>Presentación de PowerPoint</vt:lpstr>
      <vt:lpstr>Estudio Ambiental</vt:lpstr>
      <vt:lpstr>Presentación de PowerPoint</vt:lpstr>
      <vt:lpstr>Presentación de PowerPoint</vt:lpstr>
      <vt:lpstr>Estudio de Mercado</vt:lpstr>
      <vt:lpstr>Presentación de PowerPoint</vt:lpstr>
      <vt:lpstr>Presentación de PowerPoint</vt:lpstr>
      <vt:lpstr>Estudio Técnico</vt:lpstr>
      <vt:lpstr>Presentación de PowerPoint</vt:lpstr>
      <vt:lpstr>Presentación de PowerPoint</vt:lpstr>
      <vt:lpstr>Presentación de PowerPoint</vt:lpstr>
      <vt:lpstr>Presentación de PowerPoint</vt:lpstr>
      <vt:lpstr>Estudio Tributario</vt:lpstr>
      <vt:lpstr>Presentación de PowerPoint</vt:lpstr>
      <vt:lpstr>Presentación de PowerPoint</vt:lpstr>
      <vt:lpstr>Estudio Económico</vt:lpstr>
      <vt:lpstr>Presentación de PowerPoint</vt:lpstr>
      <vt:lpstr>Presentación de PowerPoint</vt:lpstr>
      <vt:lpstr>Estudio Financiero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celso farias</cp:lastModifiedBy>
  <cp:revision>19</cp:revision>
  <dcterms:modified xsi:type="dcterms:W3CDTF">2026-06-22T16:04:29Z</dcterms:modified>
</cp:coreProperties>
</file>